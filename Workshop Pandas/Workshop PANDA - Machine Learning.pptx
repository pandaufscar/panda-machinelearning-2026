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40259" y="0"/>
            <a:ext cx="9578340" cy="4608587"/>
            <a:chOff x="0" y="0"/>
            <a:chExt cx="126697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6970860"/>
            <a:ext cx="9578340" cy="4608587"/>
            <a:chOff x="0" y="0"/>
            <a:chExt cx="1266973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06880" y="1331359"/>
            <a:ext cx="6309094" cy="7624283"/>
          </a:xfrm>
          <a:custGeom>
            <a:avLst/>
            <a:gdLst/>
            <a:ahLst/>
            <a:cxnLst/>
            <a:rect r="r" b="b" t="t" l="l"/>
            <a:pathLst>
              <a:path h="7624283" w="6309094">
                <a:moveTo>
                  <a:pt x="0" y="0"/>
                </a:moveTo>
                <a:lnTo>
                  <a:pt x="6309094" y="0"/>
                </a:lnTo>
                <a:lnTo>
                  <a:pt x="6309094" y="7624282"/>
                </a:lnTo>
                <a:lnTo>
                  <a:pt x="0" y="762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373033"/>
            <a:ext cx="6484193" cy="27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10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</a:t>
            </a:r>
            <a:r>
              <a:rPr lang="en-US" b="true" sz="10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0000">
                <a:solidFill>
                  <a:srgbClr val="56B91D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747309"/>
            <a:ext cx="8646263" cy="11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400" b="true">
                <a:solidFill>
                  <a:srgbClr val="64E9FF"/>
                </a:solidFill>
                <a:latin typeface="Poppins Bold"/>
                <a:ea typeface="Poppins Bold"/>
                <a:cs typeface="Poppins Bold"/>
                <a:sym typeface="Poppins Bold"/>
              </a:rPr>
              <a:t>Workshop de Projetos Práticos – PANDA UFSCar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32760"/>
            <a:ext cx="64841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iversidade Federal de São Carlos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94188" y="-646224"/>
            <a:ext cx="9578340" cy="4608587"/>
            <a:chOff x="0" y="0"/>
            <a:chExt cx="1266973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20066" y="6324636"/>
            <a:ext cx="9578340" cy="4608587"/>
            <a:chOff x="0" y="0"/>
            <a:chExt cx="1266973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51563" y="1028700"/>
            <a:ext cx="4629150" cy="8229600"/>
          </a:xfrm>
          <a:custGeom>
            <a:avLst/>
            <a:gdLst/>
            <a:ahLst/>
            <a:cxnLst/>
            <a:rect r="r" b="b" t="t" l="l"/>
            <a:pathLst>
              <a:path h="8229600" w="4629150">
                <a:moveTo>
                  <a:pt x="0" y="0"/>
                </a:moveTo>
                <a:lnTo>
                  <a:pt x="4629150" y="0"/>
                </a:lnTo>
                <a:lnTo>
                  <a:pt x="46291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135571" y="5143500"/>
            <a:ext cx="6850225" cy="4114800"/>
            <a:chOff x="0" y="0"/>
            <a:chExt cx="1061279" cy="63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1279" cy="637490"/>
            </a:xfrm>
            <a:custGeom>
              <a:avLst/>
              <a:gdLst/>
              <a:ahLst/>
              <a:cxnLst/>
              <a:rect r="r" b="b" t="t" l="l"/>
              <a:pathLst>
                <a:path h="637490" w="1061279">
                  <a:moveTo>
                    <a:pt x="55378" y="0"/>
                  </a:moveTo>
                  <a:lnTo>
                    <a:pt x="1005901" y="0"/>
                  </a:lnTo>
                  <a:cubicBezTo>
                    <a:pt x="1036485" y="0"/>
                    <a:pt x="1061279" y="24794"/>
                    <a:pt x="1061279" y="55378"/>
                  </a:cubicBezTo>
                  <a:lnTo>
                    <a:pt x="1061279" y="582112"/>
                  </a:lnTo>
                  <a:cubicBezTo>
                    <a:pt x="1061279" y="612696"/>
                    <a:pt x="1036485" y="637490"/>
                    <a:pt x="1005901" y="637490"/>
                  </a:cubicBezTo>
                  <a:lnTo>
                    <a:pt x="55378" y="637490"/>
                  </a:lnTo>
                  <a:cubicBezTo>
                    <a:pt x="24794" y="637490"/>
                    <a:pt x="0" y="612696"/>
                    <a:pt x="0" y="582112"/>
                  </a:cubicBezTo>
                  <a:lnTo>
                    <a:pt x="0" y="55378"/>
                  </a:lnTo>
                  <a:cubicBezTo>
                    <a:pt x="0" y="24794"/>
                    <a:pt x="24794" y="0"/>
                    <a:pt x="5537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0" r="0" b="-11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64864" y="1651265"/>
            <a:ext cx="6033542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56B91D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90" y="3381375"/>
            <a:ext cx="6205489" cy="471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Machine Lea</a:t>
            </a: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rning: ensinando computadores a aprender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Machine Learning (Aprendizado de Máquina) é uma área da Inteligência Artificial cujo objetivo é desenvolver algoritmos capazes de aprender padrões presentes em dados, sem que todas as regras precisem ser programadas manualmente.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Ao invés de criar instruções específicas para cada situação, fornecemos exemplos ao algoritmo para que ele identifique relações entre as variáveis e utilize esse conhecimento para fazer previsões ou tomar decisões sobre novos dados.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Essa abordagem tornou-se uma das principais tecnologias da atualidade devido à enorme quantidade de dados produzidos diariamente.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5979" y="598170"/>
            <a:ext cx="5623510" cy="28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</a:t>
            </a: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os de utilização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Sistemas de recomendação (Netflix, Spotify e Amazon)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Detecção de fraudes bancárias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Diagnóstico médico assistido por computador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Reconhecimento facial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Assistentes virtuais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Carros autônomos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23783" y="0"/>
            <a:ext cx="11040435" cy="4608587"/>
            <a:chOff x="0" y="0"/>
            <a:chExt cx="1460371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0371" cy="609600"/>
            </a:xfrm>
            <a:custGeom>
              <a:avLst/>
              <a:gdLst/>
              <a:ahLst/>
              <a:cxnLst/>
              <a:rect r="r" b="b" t="t" l="l"/>
              <a:pathLst>
                <a:path h="609600" w="1460371">
                  <a:moveTo>
                    <a:pt x="125717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60371" y="609600"/>
                  </a:lnTo>
                  <a:lnTo>
                    <a:pt x="125717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1257171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3781143" y="1526584"/>
            <a:ext cx="14189710" cy="6929568"/>
            <a:chOff x="0" y="0"/>
            <a:chExt cx="1516621" cy="7406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16621" cy="740644"/>
            </a:xfrm>
            <a:custGeom>
              <a:avLst/>
              <a:gdLst/>
              <a:ahLst/>
              <a:cxnLst/>
              <a:rect r="r" b="b" t="t" l="l"/>
              <a:pathLst>
                <a:path h="740644" w="1516621">
                  <a:moveTo>
                    <a:pt x="1313421" y="0"/>
                  </a:moveTo>
                  <a:lnTo>
                    <a:pt x="0" y="0"/>
                  </a:lnTo>
                  <a:lnTo>
                    <a:pt x="203200" y="740644"/>
                  </a:lnTo>
                  <a:lnTo>
                    <a:pt x="1516621" y="740644"/>
                  </a:lnTo>
                  <a:lnTo>
                    <a:pt x="131342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1313421" cy="778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12930" y="1028700"/>
            <a:ext cx="5246370" cy="8229600"/>
            <a:chOff x="0" y="0"/>
            <a:chExt cx="812800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274980"/>
            </a:xfrm>
            <a:custGeom>
              <a:avLst/>
              <a:gdLst/>
              <a:ahLst/>
              <a:cxnLst/>
              <a:rect r="r" b="b" t="t" l="l"/>
              <a:pathLst>
                <a:path h="1274980" w="812800">
                  <a:moveTo>
                    <a:pt x="110675" y="0"/>
                  </a:moveTo>
                  <a:lnTo>
                    <a:pt x="702125" y="0"/>
                  </a:lnTo>
                  <a:cubicBezTo>
                    <a:pt x="763249" y="0"/>
                    <a:pt x="812800" y="49551"/>
                    <a:pt x="812800" y="110675"/>
                  </a:cubicBezTo>
                  <a:lnTo>
                    <a:pt x="812800" y="1164305"/>
                  </a:lnTo>
                  <a:cubicBezTo>
                    <a:pt x="812800" y="1193658"/>
                    <a:pt x="801140" y="1221809"/>
                    <a:pt x="780384" y="1242564"/>
                  </a:cubicBezTo>
                  <a:cubicBezTo>
                    <a:pt x="759628" y="1263320"/>
                    <a:pt x="731478" y="1274980"/>
                    <a:pt x="702125" y="1274980"/>
                  </a:cubicBezTo>
                  <a:lnTo>
                    <a:pt x="110675" y="1274980"/>
                  </a:lnTo>
                  <a:cubicBezTo>
                    <a:pt x="49551" y="1274980"/>
                    <a:pt x="0" y="1225429"/>
                    <a:pt x="0" y="1164305"/>
                  </a:cubicBezTo>
                  <a:lnTo>
                    <a:pt x="0" y="110675"/>
                  </a:lnTo>
                  <a:cubicBezTo>
                    <a:pt x="0" y="49551"/>
                    <a:pt x="49551" y="0"/>
                    <a:pt x="110675" y="0"/>
                  </a:cubicBezTo>
                  <a:close/>
                </a:path>
              </a:pathLst>
            </a:custGeom>
            <a:blipFill>
              <a:blip r:embed="rId4"/>
              <a:stretch>
                <a:fillRect l="-67647" t="0" r="-6764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42140" y="2372949"/>
            <a:ext cx="1141580" cy="1141580"/>
            <a:chOff x="0" y="0"/>
            <a:chExt cx="300663" cy="3006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0663" cy="300663"/>
            </a:xfrm>
            <a:custGeom>
              <a:avLst/>
              <a:gdLst/>
              <a:ahLst/>
              <a:cxnLst/>
              <a:rect r="r" b="b" t="t" l="l"/>
              <a:pathLst>
                <a:path h="300663" w="300663">
                  <a:moveTo>
                    <a:pt x="150332" y="0"/>
                  </a:moveTo>
                  <a:lnTo>
                    <a:pt x="150332" y="0"/>
                  </a:lnTo>
                  <a:cubicBezTo>
                    <a:pt x="233357" y="0"/>
                    <a:pt x="300663" y="67306"/>
                    <a:pt x="300663" y="150332"/>
                  </a:cubicBezTo>
                  <a:lnTo>
                    <a:pt x="300663" y="150332"/>
                  </a:lnTo>
                  <a:cubicBezTo>
                    <a:pt x="300663" y="233357"/>
                    <a:pt x="233357" y="300663"/>
                    <a:pt x="150332" y="300663"/>
                  </a:cubicBezTo>
                  <a:lnTo>
                    <a:pt x="150332" y="300663"/>
                  </a:lnTo>
                  <a:cubicBezTo>
                    <a:pt x="67306" y="300663"/>
                    <a:pt x="0" y="233357"/>
                    <a:pt x="0" y="150332"/>
                  </a:cubicBezTo>
                  <a:lnTo>
                    <a:pt x="0" y="150332"/>
                  </a:lnTo>
                  <a:cubicBezTo>
                    <a:pt x="0" y="67306"/>
                    <a:pt x="67306" y="0"/>
                    <a:pt x="1503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25D05">
                    <a:alpha val="100000"/>
                  </a:srgbClr>
                </a:gs>
                <a:gs pos="100000">
                  <a:srgbClr val="EDAD0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0663" cy="338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42140" y="3789440"/>
            <a:ext cx="1141580" cy="1141580"/>
            <a:chOff x="0" y="0"/>
            <a:chExt cx="300663" cy="300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0663" cy="300663"/>
            </a:xfrm>
            <a:custGeom>
              <a:avLst/>
              <a:gdLst/>
              <a:ahLst/>
              <a:cxnLst/>
              <a:rect r="r" b="b" t="t" l="l"/>
              <a:pathLst>
                <a:path h="300663" w="300663">
                  <a:moveTo>
                    <a:pt x="150332" y="0"/>
                  </a:moveTo>
                  <a:lnTo>
                    <a:pt x="150332" y="0"/>
                  </a:lnTo>
                  <a:cubicBezTo>
                    <a:pt x="233357" y="0"/>
                    <a:pt x="300663" y="67306"/>
                    <a:pt x="300663" y="150332"/>
                  </a:cubicBezTo>
                  <a:lnTo>
                    <a:pt x="300663" y="150332"/>
                  </a:lnTo>
                  <a:cubicBezTo>
                    <a:pt x="300663" y="233357"/>
                    <a:pt x="233357" y="300663"/>
                    <a:pt x="150332" y="300663"/>
                  </a:cubicBezTo>
                  <a:lnTo>
                    <a:pt x="150332" y="300663"/>
                  </a:lnTo>
                  <a:cubicBezTo>
                    <a:pt x="67306" y="300663"/>
                    <a:pt x="0" y="233357"/>
                    <a:pt x="0" y="150332"/>
                  </a:cubicBezTo>
                  <a:lnTo>
                    <a:pt x="0" y="150332"/>
                  </a:lnTo>
                  <a:cubicBezTo>
                    <a:pt x="0" y="67306"/>
                    <a:pt x="67306" y="0"/>
                    <a:pt x="1503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2ACD">
                    <a:alpha val="100000"/>
                  </a:srgbClr>
                </a:gs>
                <a:gs pos="100000">
                  <a:srgbClr val="EE4F0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0663" cy="338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42140" y="5164994"/>
            <a:ext cx="1141580" cy="1141580"/>
            <a:chOff x="0" y="0"/>
            <a:chExt cx="300663" cy="3006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0663" cy="300663"/>
            </a:xfrm>
            <a:custGeom>
              <a:avLst/>
              <a:gdLst/>
              <a:ahLst/>
              <a:cxnLst/>
              <a:rect r="r" b="b" t="t" l="l"/>
              <a:pathLst>
                <a:path h="300663" w="300663">
                  <a:moveTo>
                    <a:pt x="150332" y="0"/>
                  </a:moveTo>
                  <a:lnTo>
                    <a:pt x="150332" y="0"/>
                  </a:lnTo>
                  <a:cubicBezTo>
                    <a:pt x="233357" y="0"/>
                    <a:pt x="300663" y="67306"/>
                    <a:pt x="300663" y="150332"/>
                  </a:cubicBezTo>
                  <a:lnTo>
                    <a:pt x="300663" y="150332"/>
                  </a:lnTo>
                  <a:cubicBezTo>
                    <a:pt x="300663" y="233357"/>
                    <a:pt x="233357" y="300663"/>
                    <a:pt x="150332" y="300663"/>
                  </a:cubicBezTo>
                  <a:lnTo>
                    <a:pt x="150332" y="300663"/>
                  </a:lnTo>
                  <a:cubicBezTo>
                    <a:pt x="67306" y="300663"/>
                    <a:pt x="0" y="233357"/>
                    <a:pt x="0" y="150332"/>
                  </a:cubicBezTo>
                  <a:lnTo>
                    <a:pt x="0" y="150332"/>
                  </a:lnTo>
                  <a:cubicBezTo>
                    <a:pt x="0" y="67306"/>
                    <a:pt x="67306" y="0"/>
                    <a:pt x="1503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8EC4">
                    <a:alpha val="100000"/>
                  </a:srgbClr>
                </a:gs>
                <a:gs pos="100000">
                  <a:srgbClr val="522AC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00663" cy="338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42140" y="6544700"/>
            <a:ext cx="1141580" cy="1141580"/>
            <a:chOff x="0" y="0"/>
            <a:chExt cx="300663" cy="3006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0663" cy="300663"/>
            </a:xfrm>
            <a:custGeom>
              <a:avLst/>
              <a:gdLst/>
              <a:ahLst/>
              <a:cxnLst/>
              <a:rect r="r" b="b" t="t" l="l"/>
              <a:pathLst>
                <a:path h="300663" w="300663">
                  <a:moveTo>
                    <a:pt x="150332" y="0"/>
                  </a:moveTo>
                  <a:lnTo>
                    <a:pt x="150332" y="0"/>
                  </a:lnTo>
                  <a:cubicBezTo>
                    <a:pt x="233357" y="0"/>
                    <a:pt x="300663" y="67306"/>
                    <a:pt x="300663" y="150332"/>
                  </a:cubicBezTo>
                  <a:lnTo>
                    <a:pt x="300663" y="150332"/>
                  </a:lnTo>
                  <a:cubicBezTo>
                    <a:pt x="300663" y="233357"/>
                    <a:pt x="233357" y="300663"/>
                    <a:pt x="150332" y="300663"/>
                  </a:cubicBezTo>
                  <a:lnTo>
                    <a:pt x="150332" y="300663"/>
                  </a:lnTo>
                  <a:cubicBezTo>
                    <a:pt x="67306" y="300663"/>
                    <a:pt x="0" y="233357"/>
                    <a:pt x="0" y="150332"/>
                  </a:cubicBezTo>
                  <a:lnTo>
                    <a:pt x="0" y="150332"/>
                  </a:lnTo>
                  <a:cubicBezTo>
                    <a:pt x="0" y="67306"/>
                    <a:pt x="67306" y="0"/>
                    <a:pt x="1503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00663" cy="338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707120" y="6799624"/>
            <a:ext cx="631731" cy="631731"/>
          </a:xfrm>
          <a:custGeom>
            <a:avLst/>
            <a:gdLst/>
            <a:ahLst/>
            <a:cxnLst/>
            <a:rect r="r" b="b" t="t" l="l"/>
            <a:pathLst>
              <a:path h="631731" w="631731">
                <a:moveTo>
                  <a:pt x="0" y="0"/>
                </a:moveTo>
                <a:lnTo>
                  <a:pt x="631731" y="0"/>
                </a:lnTo>
                <a:lnTo>
                  <a:pt x="631731" y="631731"/>
                </a:lnTo>
                <a:lnTo>
                  <a:pt x="0" y="63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649193" y="5385035"/>
            <a:ext cx="727474" cy="705649"/>
          </a:xfrm>
          <a:custGeom>
            <a:avLst/>
            <a:gdLst/>
            <a:ahLst/>
            <a:cxnLst/>
            <a:rect r="r" b="b" t="t" l="l"/>
            <a:pathLst>
              <a:path h="705649" w="727474">
                <a:moveTo>
                  <a:pt x="0" y="0"/>
                </a:moveTo>
                <a:lnTo>
                  <a:pt x="727474" y="0"/>
                </a:lnTo>
                <a:lnTo>
                  <a:pt x="727474" y="705650"/>
                </a:lnTo>
                <a:lnTo>
                  <a:pt x="0" y="7056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633390" y="4017387"/>
            <a:ext cx="779190" cy="685687"/>
          </a:xfrm>
          <a:custGeom>
            <a:avLst/>
            <a:gdLst/>
            <a:ahLst/>
            <a:cxnLst/>
            <a:rect r="r" b="b" t="t" l="l"/>
            <a:pathLst>
              <a:path h="685687" w="779190">
                <a:moveTo>
                  <a:pt x="0" y="0"/>
                </a:moveTo>
                <a:lnTo>
                  <a:pt x="779190" y="0"/>
                </a:lnTo>
                <a:lnTo>
                  <a:pt x="779190" y="685687"/>
                </a:lnTo>
                <a:lnTo>
                  <a:pt x="0" y="6856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673995" y="2586965"/>
            <a:ext cx="677870" cy="713548"/>
          </a:xfrm>
          <a:custGeom>
            <a:avLst/>
            <a:gdLst/>
            <a:ahLst/>
            <a:cxnLst/>
            <a:rect r="r" b="b" t="t" l="l"/>
            <a:pathLst>
              <a:path h="713548" w="677870">
                <a:moveTo>
                  <a:pt x="0" y="0"/>
                </a:moveTo>
                <a:lnTo>
                  <a:pt x="677870" y="0"/>
                </a:lnTo>
                <a:lnTo>
                  <a:pt x="677870" y="713548"/>
                </a:lnTo>
                <a:lnTo>
                  <a:pt x="0" y="7135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98506" y="1712473"/>
            <a:ext cx="7475351" cy="123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 que Machine Learning é</a:t>
            </a:r>
            <a:r>
              <a:rPr lang="en-US" b="true" sz="4600">
                <a:solidFill>
                  <a:srgbClr val="56B91D"/>
                </a:solidFill>
                <a:latin typeface="Poppins Bold"/>
                <a:ea typeface="Poppins Bold"/>
                <a:cs typeface="Poppins Bold"/>
                <a:sym typeface="Poppins Bold"/>
              </a:rPr>
              <a:t> importante?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8506" y="3198495"/>
            <a:ext cx="8115300" cy="503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Nos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últimos anos houve um crescimento exponencial da quantidade de dados produzidos por empresas, governos e usuários da internet.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Entretanto, possuir grandes volumes de dados não é suficiente. O verdadeiro desafio consiste em transformar essas informações em conhecimento útil para apoiar decisões.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 Machine Learning permite: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identificar padrões ocultos;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automatizar tarefas repetitivas;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realizar previsões com base em dados históricos;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apoiar decisões mais rápidas e precisas;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encontrar relações que seriam difíceis de perceber manualmente.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Atualmente, praticamente todos os setores utilizam técnicas de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70008" y="2188680"/>
            <a:ext cx="15509207" cy="5909640"/>
            <a:chOff x="0" y="0"/>
            <a:chExt cx="1657651" cy="6316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7651" cy="631633"/>
            </a:xfrm>
            <a:custGeom>
              <a:avLst/>
              <a:gdLst/>
              <a:ahLst/>
              <a:cxnLst/>
              <a:rect r="r" b="b" t="t" l="l"/>
              <a:pathLst>
                <a:path h="631633" w="1657651">
                  <a:moveTo>
                    <a:pt x="1454451" y="0"/>
                  </a:moveTo>
                  <a:lnTo>
                    <a:pt x="0" y="0"/>
                  </a:lnTo>
                  <a:lnTo>
                    <a:pt x="203200" y="631633"/>
                  </a:lnTo>
                  <a:lnTo>
                    <a:pt x="1657651" y="631633"/>
                  </a:lnTo>
                  <a:lnTo>
                    <a:pt x="145445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1454451" cy="669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820281" cy="8229600"/>
          </a:xfrm>
          <a:custGeom>
            <a:avLst/>
            <a:gdLst/>
            <a:ahLst/>
            <a:cxnLst/>
            <a:rect r="r" b="b" t="t" l="l"/>
            <a:pathLst>
              <a:path h="8229600" w="6820281">
                <a:moveTo>
                  <a:pt x="0" y="0"/>
                </a:moveTo>
                <a:lnTo>
                  <a:pt x="6820281" y="0"/>
                </a:lnTo>
                <a:lnTo>
                  <a:pt x="68202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38440" y="2976322"/>
            <a:ext cx="9777243" cy="64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Como um </a:t>
            </a:r>
            <a:r>
              <a:rPr lang="en-US" sz="4500" b="true">
                <a:solidFill>
                  <a:srgbClr val="64E9FF"/>
                </a:solidFill>
                <a:latin typeface="Poppins Bold"/>
                <a:ea typeface="Poppins Bold"/>
                <a:cs typeface="Poppins Bold"/>
                <a:sym typeface="Poppins Bold"/>
              </a:rPr>
              <a:t>Computador</a:t>
            </a:r>
            <a:r>
              <a:rPr lang="en-US" b="true" sz="4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aprende?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440" y="3992832"/>
            <a:ext cx="9972344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Um alg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oritmo de Machine Learning aprende identificando padrões em um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nju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de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ados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já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nhecido. Durante o treinamento, ele recebe exemplos e ajusta seus parâmetros para reconhecer relações entre as variáveis.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Após essa etapa, o modelo pode analisar novos dados e realizar previsões ou classificações automaticamente.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Exemplo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Entrada: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milhares de e-mails classificados como Spam ou Não Spa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prendizado: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identificação de padrões presentes nesses e-mails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Saída: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classificação automática de novos e-mails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4807" y="3459999"/>
            <a:ext cx="16997404" cy="6375506"/>
            <a:chOff x="0" y="0"/>
            <a:chExt cx="162522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223" cy="609600"/>
            </a:xfrm>
            <a:custGeom>
              <a:avLst/>
              <a:gdLst/>
              <a:ahLst/>
              <a:cxnLst/>
              <a:rect r="r" b="b" t="t" l="l"/>
              <a:pathLst>
                <a:path h="609600" w="1625223">
                  <a:moveTo>
                    <a:pt x="142202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625223" y="609600"/>
                  </a:lnTo>
                  <a:lnTo>
                    <a:pt x="142202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42202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322619" y="-1180428"/>
            <a:ext cx="21626214" cy="7890204"/>
            <a:chOff x="0" y="0"/>
            <a:chExt cx="1670849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0849" cy="609600"/>
            </a:xfrm>
            <a:custGeom>
              <a:avLst/>
              <a:gdLst/>
              <a:ahLst/>
              <a:cxnLst/>
              <a:rect r="r" b="b" t="t" l="l"/>
              <a:pathLst>
                <a:path h="609600" w="1670849">
                  <a:moveTo>
                    <a:pt x="146764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670849" y="609600"/>
                  </a:lnTo>
                  <a:lnTo>
                    <a:pt x="146764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46764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20145" y="2653404"/>
            <a:ext cx="7756438" cy="4980191"/>
            <a:chOff x="0" y="0"/>
            <a:chExt cx="992864" cy="637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2864" cy="637490"/>
            </a:xfrm>
            <a:custGeom>
              <a:avLst/>
              <a:gdLst/>
              <a:ahLst/>
              <a:cxnLst/>
              <a:rect r="r" b="b" t="t" l="l"/>
              <a:pathLst>
                <a:path h="637490" w="992864">
                  <a:moveTo>
                    <a:pt x="45914" y="0"/>
                  </a:moveTo>
                  <a:lnTo>
                    <a:pt x="946950" y="0"/>
                  </a:lnTo>
                  <a:cubicBezTo>
                    <a:pt x="972308" y="0"/>
                    <a:pt x="992864" y="20556"/>
                    <a:pt x="992864" y="45914"/>
                  </a:cubicBezTo>
                  <a:lnTo>
                    <a:pt x="992864" y="591576"/>
                  </a:lnTo>
                  <a:cubicBezTo>
                    <a:pt x="992864" y="616934"/>
                    <a:pt x="972308" y="637490"/>
                    <a:pt x="946950" y="637490"/>
                  </a:cubicBezTo>
                  <a:lnTo>
                    <a:pt x="45914" y="637490"/>
                  </a:lnTo>
                  <a:cubicBezTo>
                    <a:pt x="33737" y="637490"/>
                    <a:pt x="22058" y="632653"/>
                    <a:pt x="13448" y="624042"/>
                  </a:cubicBezTo>
                  <a:cubicBezTo>
                    <a:pt x="4837" y="615432"/>
                    <a:pt x="0" y="603753"/>
                    <a:pt x="0" y="591576"/>
                  </a:cubicBezTo>
                  <a:lnTo>
                    <a:pt x="0" y="45914"/>
                  </a:lnTo>
                  <a:cubicBezTo>
                    <a:pt x="0" y="20556"/>
                    <a:pt x="20556" y="0"/>
                    <a:pt x="45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72" r="0" b="-372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547566" y="1438108"/>
            <a:ext cx="9672579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Tipos </a:t>
            </a: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 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35490" y="7429887"/>
            <a:ext cx="5496732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algoritmo aprende por tentativa e erro.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Recebe recompensas quando toma boas decisões e penalizações quando toma decisões inadequadas.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Aplicações: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robótica;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jogos;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carros autônomos.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846" y="3848101"/>
            <a:ext cx="445376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modelo 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recebe exemplos já classificados.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Exemplo: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prever preço de casas;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identificar spam;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prever doenças.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É o tipo mais utilizado na indústria e foi o principal foco do nosso grupo de estudos.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3856" y="3848101"/>
            <a:ext cx="4782714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algoritmo recebe apenas os dados e precisa encontrar padrões sozinho.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Exemplos: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agrupamento de clientes;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segmentação de mercado;</a:t>
            </a:r>
          </a:p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descoberta de perfis semelhantes.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00331" y="6995525"/>
            <a:ext cx="356704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Aprendizad</a:t>
            </a: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 por Reforço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7566" y="3219744"/>
            <a:ext cx="345134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Aprendiz</a:t>
            </a: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ado Supervisionado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3856" y="3219744"/>
            <a:ext cx="40754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Ap</a:t>
            </a: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rendizado Não Supervisionado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7566" y="2448444"/>
            <a:ext cx="713617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istem diferentes formas pelas quais um algoritmo pode aprender.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97206" y="3959440"/>
            <a:ext cx="12735442" cy="5298860"/>
            <a:chOff x="0" y="0"/>
            <a:chExt cx="1465131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5131" cy="609600"/>
            </a:xfrm>
            <a:custGeom>
              <a:avLst/>
              <a:gdLst/>
              <a:ahLst/>
              <a:cxnLst/>
              <a:rect r="r" b="b" t="t" l="l"/>
              <a:pathLst>
                <a:path h="609600" w="1465131">
                  <a:moveTo>
                    <a:pt x="126193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65131" y="609600"/>
                  </a:lnTo>
                  <a:lnTo>
                    <a:pt x="12619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261931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55152" y="1028700"/>
            <a:ext cx="12459923" cy="6594131"/>
            <a:chOff x="0" y="0"/>
            <a:chExt cx="1295845" cy="685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845" cy="685796"/>
            </a:xfrm>
            <a:custGeom>
              <a:avLst/>
              <a:gdLst/>
              <a:ahLst/>
              <a:cxnLst/>
              <a:rect r="r" b="b" t="t" l="l"/>
              <a:pathLst>
                <a:path h="685796" w="1295845">
                  <a:moveTo>
                    <a:pt x="1092645" y="0"/>
                  </a:moveTo>
                  <a:lnTo>
                    <a:pt x="0" y="0"/>
                  </a:lnTo>
                  <a:lnTo>
                    <a:pt x="203200" y="685796"/>
                  </a:lnTo>
                  <a:lnTo>
                    <a:pt x="1295845" y="685796"/>
                  </a:lnTo>
                  <a:lnTo>
                    <a:pt x="109264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092645" cy="72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3695" y="1252618"/>
            <a:ext cx="822223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800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O Pipeline de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5282" y="2692190"/>
            <a:ext cx="8608718" cy="4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 um projeto de Machine Learning é desenvolvido?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construção de um modelo envolve várias etapas além do treinamento. Cada fase contribui para que o modelo final seja confiável e produza boas previsões.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Etapas do pipeline: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Definição do problema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Coleta dos dados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Análise Exploratória (EDA)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Pré-processamento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Treinamento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Avaliação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Implantação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22776" y="5359190"/>
            <a:ext cx="6300848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urante o grupo de estudos, trabalhamos todas essas etapas utilizando Python e a biblioteca Scikit-learn, permitindo que os participantes desenvolvessem uma visão completa do processo de construção de modelos de Machine Learning.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7792720"/>
            <a:ext cx="16230600" cy="1866214"/>
            <a:chOff x="0" y="0"/>
            <a:chExt cx="2514545" cy="289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4545" cy="289125"/>
            </a:xfrm>
            <a:custGeom>
              <a:avLst/>
              <a:gdLst/>
              <a:ahLst/>
              <a:cxnLst/>
              <a:rect r="r" b="b" t="t" l="l"/>
              <a:pathLst>
                <a:path h="289125" w="2514545">
                  <a:moveTo>
                    <a:pt x="35775" y="0"/>
                  </a:moveTo>
                  <a:lnTo>
                    <a:pt x="2478770" y="0"/>
                  </a:lnTo>
                  <a:cubicBezTo>
                    <a:pt x="2488258" y="0"/>
                    <a:pt x="2497357" y="3769"/>
                    <a:pt x="2504066" y="10478"/>
                  </a:cubicBezTo>
                  <a:cubicBezTo>
                    <a:pt x="2510775" y="17187"/>
                    <a:pt x="2514545" y="26287"/>
                    <a:pt x="2514545" y="35775"/>
                  </a:cubicBezTo>
                  <a:lnTo>
                    <a:pt x="2514545" y="253351"/>
                  </a:lnTo>
                  <a:cubicBezTo>
                    <a:pt x="2514545" y="273109"/>
                    <a:pt x="2498528" y="289125"/>
                    <a:pt x="2478770" y="289125"/>
                  </a:cubicBezTo>
                  <a:lnTo>
                    <a:pt x="35775" y="289125"/>
                  </a:lnTo>
                  <a:cubicBezTo>
                    <a:pt x="16017" y="289125"/>
                    <a:pt x="0" y="273109"/>
                    <a:pt x="0" y="253351"/>
                  </a:cubicBezTo>
                  <a:lnTo>
                    <a:pt x="0" y="35775"/>
                  </a:lnTo>
                  <a:cubicBezTo>
                    <a:pt x="0" y="16017"/>
                    <a:pt x="16017" y="0"/>
                    <a:pt x="3577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39902" r="0" b="-23990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tru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32924" y="1648076"/>
            <a:ext cx="10143124" cy="3473760"/>
            <a:chOff x="0" y="0"/>
            <a:chExt cx="1779988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9987" cy="609600"/>
            </a:xfrm>
            <a:custGeom>
              <a:avLst/>
              <a:gdLst/>
              <a:ahLst/>
              <a:cxnLst/>
              <a:rect r="r" b="b" t="t" l="l"/>
              <a:pathLst>
                <a:path h="609600" w="1779987">
                  <a:moveTo>
                    <a:pt x="1576787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779987" y="609600"/>
                  </a:lnTo>
                  <a:lnTo>
                    <a:pt x="157678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576788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1665182" y="4203182"/>
            <a:ext cx="11727139" cy="4422641"/>
            <a:chOff x="0" y="0"/>
            <a:chExt cx="1766654" cy="6662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6654" cy="666256"/>
            </a:xfrm>
            <a:custGeom>
              <a:avLst/>
              <a:gdLst/>
              <a:ahLst/>
              <a:cxnLst/>
              <a:rect r="r" b="b" t="t" l="l"/>
              <a:pathLst>
                <a:path h="666256" w="1766654">
                  <a:moveTo>
                    <a:pt x="1563454" y="0"/>
                  </a:moveTo>
                  <a:lnTo>
                    <a:pt x="0" y="0"/>
                  </a:lnTo>
                  <a:lnTo>
                    <a:pt x="203200" y="666256"/>
                  </a:lnTo>
                  <a:lnTo>
                    <a:pt x="1766654" y="666256"/>
                  </a:lnTo>
                  <a:lnTo>
                    <a:pt x="156345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563454" cy="704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8336" y="3637366"/>
            <a:ext cx="8812299" cy="5487904"/>
            <a:chOff x="0" y="0"/>
            <a:chExt cx="1358302" cy="8458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8302" cy="845889"/>
            </a:xfrm>
            <a:custGeom>
              <a:avLst/>
              <a:gdLst/>
              <a:ahLst/>
              <a:cxnLst/>
              <a:rect r="r" b="b" t="t" l="l"/>
              <a:pathLst>
                <a:path h="845889" w="1358302">
                  <a:moveTo>
                    <a:pt x="40413" y="0"/>
                  </a:moveTo>
                  <a:lnTo>
                    <a:pt x="1317889" y="0"/>
                  </a:lnTo>
                  <a:cubicBezTo>
                    <a:pt x="1328607" y="0"/>
                    <a:pt x="1338886" y="4258"/>
                    <a:pt x="1346465" y="11837"/>
                  </a:cubicBezTo>
                  <a:cubicBezTo>
                    <a:pt x="1354044" y="19415"/>
                    <a:pt x="1358302" y="29695"/>
                    <a:pt x="1358302" y="40413"/>
                  </a:cubicBezTo>
                  <a:lnTo>
                    <a:pt x="1358302" y="805477"/>
                  </a:lnTo>
                  <a:cubicBezTo>
                    <a:pt x="1358302" y="816195"/>
                    <a:pt x="1354044" y="826474"/>
                    <a:pt x="1346465" y="834053"/>
                  </a:cubicBezTo>
                  <a:cubicBezTo>
                    <a:pt x="1338886" y="841632"/>
                    <a:pt x="1328607" y="845889"/>
                    <a:pt x="1317889" y="845889"/>
                  </a:cubicBezTo>
                  <a:lnTo>
                    <a:pt x="40413" y="845889"/>
                  </a:lnTo>
                  <a:cubicBezTo>
                    <a:pt x="29695" y="845889"/>
                    <a:pt x="19415" y="841632"/>
                    <a:pt x="11837" y="834053"/>
                  </a:cubicBezTo>
                  <a:cubicBezTo>
                    <a:pt x="4258" y="826474"/>
                    <a:pt x="0" y="816195"/>
                    <a:pt x="0" y="805477"/>
                  </a:cubicBezTo>
                  <a:lnTo>
                    <a:pt x="0" y="40413"/>
                  </a:lnTo>
                  <a:cubicBezTo>
                    <a:pt x="0" y="29695"/>
                    <a:pt x="4258" y="19415"/>
                    <a:pt x="11837" y="11837"/>
                  </a:cubicBezTo>
                  <a:cubicBezTo>
                    <a:pt x="19415" y="4258"/>
                    <a:pt x="29695" y="0"/>
                    <a:pt x="404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525" r="0" b="-3525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78890" y="2297196"/>
            <a:ext cx="7932174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Análise Exploratória de Dados </a:t>
            </a: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(EDA)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644" y="4367098"/>
            <a:ext cx="7556088" cy="39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Ant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 de construir um modelo, é necessário compreender o conjunto de dados.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 EDA permite identificar: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distribuição dos dados;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valores ausentes;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outliers;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correlação entre variáveis;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possíveis inconsistências.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Essa etapa auxilia na compreensão do problema e melhora a qualidade das análises realizadas posteriormente.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7565" y="6813240"/>
            <a:ext cx="10696869" cy="3473760"/>
            <a:chOff x="0" y="0"/>
            <a:chExt cx="1877162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163" cy="609600"/>
            </a:xfrm>
            <a:custGeom>
              <a:avLst/>
              <a:gdLst/>
              <a:ahLst/>
              <a:cxnLst/>
              <a:rect r="r" b="b" t="t" l="l"/>
              <a:pathLst>
                <a:path h="609600" w="1877163">
                  <a:moveTo>
                    <a:pt x="167396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877163" y="609600"/>
                  </a:lnTo>
                  <a:lnTo>
                    <a:pt x="167396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673962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1429428" y="2496366"/>
            <a:ext cx="10886477" cy="7190164"/>
            <a:chOff x="0" y="0"/>
            <a:chExt cx="1640011" cy="1083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0011" cy="1083174"/>
            </a:xfrm>
            <a:custGeom>
              <a:avLst/>
              <a:gdLst/>
              <a:ahLst/>
              <a:cxnLst/>
              <a:rect r="r" b="b" t="t" l="l"/>
              <a:pathLst>
                <a:path h="1083174" w="1640011">
                  <a:moveTo>
                    <a:pt x="1436811" y="0"/>
                  </a:moveTo>
                  <a:lnTo>
                    <a:pt x="0" y="0"/>
                  </a:lnTo>
                  <a:lnTo>
                    <a:pt x="203200" y="1083174"/>
                  </a:lnTo>
                  <a:lnTo>
                    <a:pt x="1640011" y="1083174"/>
                  </a:lnTo>
                  <a:lnTo>
                    <a:pt x="143681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436811" cy="1121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79170" y="2819098"/>
            <a:ext cx="6599963" cy="6599963"/>
          </a:xfrm>
          <a:custGeom>
            <a:avLst/>
            <a:gdLst/>
            <a:ahLst/>
            <a:cxnLst/>
            <a:rect r="r" b="b" t="t" l="l"/>
            <a:pathLst>
              <a:path h="6599963" w="6599963">
                <a:moveTo>
                  <a:pt x="0" y="0"/>
                </a:moveTo>
                <a:lnTo>
                  <a:pt x="6599963" y="0"/>
                </a:lnTo>
                <a:lnTo>
                  <a:pt x="6599963" y="6599963"/>
                </a:lnTo>
                <a:lnTo>
                  <a:pt x="0" y="6599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43821" y="1298160"/>
            <a:ext cx="11250613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56B91D"/>
                </a:solidFill>
                <a:latin typeface="Poppins Bold"/>
                <a:ea typeface="Poppins Bold"/>
                <a:cs typeface="Poppins Bold"/>
                <a:sym typeface="Poppins Bold"/>
              </a:rPr>
              <a:t>Pré-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processamento dos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890" y="2636739"/>
            <a:ext cx="7878253" cy="691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Dados </a:t>
            </a: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reais raramente estão prontos para serem utilizados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Após compreender o conjunto de dados, é necessário prepará-lo para o treinamento dos modelos.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As principais etapas de pré-processamento incluem: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Tratamento de valores ausentes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Algumas observações podem conter informações incompletas. Nesses casos é possível remover registros ou preencher os valores utilizando técnicas estatísticas.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Codificação de variáveis categóricas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Modelos matemáticos trabalham com números. Assim, categorias como "Masculino/Feminino" ou "Sim/Não" precisam ser convertidas para valores numéricos.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Escalonamento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Alguns algoritmos apresentam melhor desempenho quando todas as variáveis possuem escalas semelhantes.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Durante o grupo utilizamos técnicas como: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MinMaxScaler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6023" y="0"/>
            <a:ext cx="11040435" cy="4608587"/>
            <a:chOff x="0" y="0"/>
            <a:chExt cx="1460371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0371" cy="609600"/>
            </a:xfrm>
            <a:custGeom>
              <a:avLst/>
              <a:gdLst/>
              <a:ahLst/>
              <a:cxnLst/>
              <a:rect r="r" b="b" t="t" l="l"/>
              <a:pathLst>
                <a:path h="609600" w="1460371">
                  <a:moveTo>
                    <a:pt x="125717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60371" y="609600"/>
                  </a:lnTo>
                  <a:lnTo>
                    <a:pt x="125717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257171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1507" y="4275212"/>
            <a:ext cx="13442108" cy="5703499"/>
            <a:chOff x="0" y="0"/>
            <a:chExt cx="1436716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6716" cy="609600"/>
            </a:xfrm>
            <a:custGeom>
              <a:avLst/>
              <a:gdLst/>
              <a:ahLst/>
              <a:cxnLst/>
              <a:rect r="r" b="b" t="t" l="l"/>
              <a:pathLst>
                <a:path h="609600" w="1436716">
                  <a:moveTo>
                    <a:pt x="123351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36716" y="609600"/>
                  </a:lnTo>
                  <a:lnTo>
                    <a:pt x="123351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23351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7242" y="2583754"/>
            <a:ext cx="4993517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64E9FF"/>
                </a:solidFill>
                <a:latin typeface="Poppins Bold"/>
                <a:ea typeface="Poppins Bold"/>
                <a:cs typeface="Poppins Bold"/>
                <a:sym typeface="Poppins Bold"/>
              </a:rPr>
              <a:t>Treinando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os modelos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7242" y="4725295"/>
            <a:ext cx="5222117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epois dos dados preparados, inicia-se o treinamento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treinamento consiste em apresentar exemplos ao algoritmo para que ele aprenda padrões presentes nos dados.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Durante o grupo estudamos diferentes algoritmos de Machine Learning, cada um com características próprias.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66169" y="2393867"/>
            <a:ext cx="5778680" cy="3016188"/>
            <a:chOff x="0" y="0"/>
            <a:chExt cx="1521957" cy="7943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1957" cy="794387"/>
            </a:xfrm>
            <a:custGeom>
              <a:avLst/>
              <a:gdLst/>
              <a:ahLst/>
              <a:cxnLst/>
              <a:rect r="r" b="b" t="t" l="l"/>
              <a:pathLst>
                <a:path h="794387" w="1521957">
                  <a:moveTo>
                    <a:pt x="66987" y="0"/>
                  </a:moveTo>
                  <a:lnTo>
                    <a:pt x="1454970" y="0"/>
                  </a:lnTo>
                  <a:cubicBezTo>
                    <a:pt x="1472736" y="0"/>
                    <a:pt x="1489774" y="7058"/>
                    <a:pt x="1502337" y="19620"/>
                  </a:cubicBezTo>
                  <a:cubicBezTo>
                    <a:pt x="1514899" y="32182"/>
                    <a:pt x="1521957" y="49221"/>
                    <a:pt x="1521957" y="66987"/>
                  </a:cubicBezTo>
                  <a:lnTo>
                    <a:pt x="1521957" y="727400"/>
                  </a:lnTo>
                  <a:cubicBezTo>
                    <a:pt x="1521957" y="764396"/>
                    <a:pt x="1491966" y="794387"/>
                    <a:pt x="1454970" y="794387"/>
                  </a:cubicBezTo>
                  <a:lnTo>
                    <a:pt x="66987" y="794387"/>
                  </a:lnTo>
                  <a:cubicBezTo>
                    <a:pt x="29991" y="794387"/>
                    <a:pt x="0" y="764396"/>
                    <a:pt x="0" y="727400"/>
                  </a:cubicBezTo>
                  <a:lnTo>
                    <a:pt x="0" y="66987"/>
                  </a:lnTo>
                  <a:cubicBezTo>
                    <a:pt x="0" y="29991"/>
                    <a:pt x="29991" y="0"/>
                    <a:pt x="669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25D05">
                    <a:alpha val="100000"/>
                  </a:srgbClr>
                </a:gs>
                <a:gs pos="100000">
                  <a:srgbClr val="EDAD0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1957" cy="832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95519" y="2721179"/>
            <a:ext cx="5319980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Reg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ressão Linear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Utilizada para prever valores numéricos contínuos.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Exemplo: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preço de casas;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temperatura;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vendas.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10850" y="2393867"/>
            <a:ext cx="5778680" cy="3016188"/>
            <a:chOff x="0" y="0"/>
            <a:chExt cx="1521957" cy="7943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1957" cy="794387"/>
            </a:xfrm>
            <a:custGeom>
              <a:avLst/>
              <a:gdLst/>
              <a:ahLst/>
              <a:cxnLst/>
              <a:rect r="r" b="b" t="t" l="l"/>
              <a:pathLst>
                <a:path h="794387" w="1521957">
                  <a:moveTo>
                    <a:pt x="66987" y="0"/>
                  </a:moveTo>
                  <a:lnTo>
                    <a:pt x="1454970" y="0"/>
                  </a:lnTo>
                  <a:cubicBezTo>
                    <a:pt x="1472736" y="0"/>
                    <a:pt x="1489774" y="7058"/>
                    <a:pt x="1502337" y="19620"/>
                  </a:cubicBezTo>
                  <a:cubicBezTo>
                    <a:pt x="1514899" y="32182"/>
                    <a:pt x="1521957" y="49221"/>
                    <a:pt x="1521957" y="66987"/>
                  </a:cubicBezTo>
                  <a:lnTo>
                    <a:pt x="1521957" y="727400"/>
                  </a:lnTo>
                  <a:cubicBezTo>
                    <a:pt x="1521957" y="764396"/>
                    <a:pt x="1491966" y="794387"/>
                    <a:pt x="1454970" y="794387"/>
                  </a:cubicBezTo>
                  <a:lnTo>
                    <a:pt x="66987" y="794387"/>
                  </a:lnTo>
                  <a:cubicBezTo>
                    <a:pt x="29991" y="794387"/>
                    <a:pt x="0" y="764396"/>
                    <a:pt x="0" y="727400"/>
                  </a:cubicBezTo>
                  <a:lnTo>
                    <a:pt x="0" y="66987"/>
                  </a:lnTo>
                  <a:cubicBezTo>
                    <a:pt x="0" y="29991"/>
                    <a:pt x="29991" y="0"/>
                    <a:pt x="669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8EC4">
                    <a:alpha val="100000"/>
                  </a:srgbClr>
                </a:gs>
                <a:gs pos="100000">
                  <a:srgbClr val="522AC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21957" cy="832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59188" y="2721179"/>
            <a:ext cx="3882005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Reg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ressão Logística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Utilizada para classificação binária.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Exemplo: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spam ou não spam;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clien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 inadimplente ou não.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2210850" y="5842548"/>
            <a:ext cx="5778680" cy="3016188"/>
            <a:chOff x="0" y="0"/>
            <a:chExt cx="1521957" cy="7943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1957" cy="794387"/>
            </a:xfrm>
            <a:custGeom>
              <a:avLst/>
              <a:gdLst/>
              <a:ahLst/>
              <a:cxnLst/>
              <a:rect r="r" b="b" t="t" l="l"/>
              <a:pathLst>
                <a:path h="794387" w="1521957">
                  <a:moveTo>
                    <a:pt x="66987" y="0"/>
                  </a:moveTo>
                  <a:lnTo>
                    <a:pt x="1454970" y="0"/>
                  </a:lnTo>
                  <a:cubicBezTo>
                    <a:pt x="1472736" y="0"/>
                    <a:pt x="1489774" y="7058"/>
                    <a:pt x="1502337" y="19620"/>
                  </a:cubicBezTo>
                  <a:cubicBezTo>
                    <a:pt x="1514899" y="32182"/>
                    <a:pt x="1521957" y="49221"/>
                    <a:pt x="1521957" y="66987"/>
                  </a:cubicBezTo>
                  <a:lnTo>
                    <a:pt x="1521957" y="727400"/>
                  </a:lnTo>
                  <a:cubicBezTo>
                    <a:pt x="1521957" y="764396"/>
                    <a:pt x="1491966" y="794387"/>
                    <a:pt x="1454970" y="794387"/>
                  </a:cubicBezTo>
                  <a:lnTo>
                    <a:pt x="66987" y="794387"/>
                  </a:lnTo>
                  <a:cubicBezTo>
                    <a:pt x="29991" y="794387"/>
                    <a:pt x="0" y="764396"/>
                    <a:pt x="0" y="727400"/>
                  </a:cubicBezTo>
                  <a:lnTo>
                    <a:pt x="0" y="66987"/>
                  </a:lnTo>
                  <a:cubicBezTo>
                    <a:pt x="0" y="29991"/>
                    <a:pt x="29991" y="0"/>
                    <a:pt x="669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1957" cy="832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440200" y="6304511"/>
            <a:ext cx="5319980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Random Forest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Combina diversas árvo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 de decisão para aumentar a precisão das previsões.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É um dos algoritmos mais utilizados em aplicações reais.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166169" y="5707353"/>
            <a:ext cx="5778680" cy="3016188"/>
            <a:chOff x="0" y="0"/>
            <a:chExt cx="1521957" cy="7943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1957" cy="794387"/>
            </a:xfrm>
            <a:custGeom>
              <a:avLst/>
              <a:gdLst/>
              <a:ahLst/>
              <a:cxnLst/>
              <a:rect r="r" b="b" t="t" l="l"/>
              <a:pathLst>
                <a:path h="794387" w="1521957">
                  <a:moveTo>
                    <a:pt x="66987" y="0"/>
                  </a:moveTo>
                  <a:lnTo>
                    <a:pt x="1454970" y="0"/>
                  </a:lnTo>
                  <a:cubicBezTo>
                    <a:pt x="1472736" y="0"/>
                    <a:pt x="1489774" y="7058"/>
                    <a:pt x="1502337" y="19620"/>
                  </a:cubicBezTo>
                  <a:cubicBezTo>
                    <a:pt x="1514899" y="32182"/>
                    <a:pt x="1521957" y="49221"/>
                    <a:pt x="1521957" y="66987"/>
                  </a:cubicBezTo>
                  <a:lnTo>
                    <a:pt x="1521957" y="727400"/>
                  </a:lnTo>
                  <a:cubicBezTo>
                    <a:pt x="1521957" y="764396"/>
                    <a:pt x="1491966" y="794387"/>
                    <a:pt x="1454970" y="794387"/>
                  </a:cubicBezTo>
                  <a:lnTo>
                    <a:pt x="66987" y="794387"/>
                  </a:lnTo>
                  <a:cubicBezTo>
                    <a:pt x="29991" y="794387"/>
                    <a:pt x="0" y="764396"/>
                    <a:pt x="0" y="727400"/>
                  </a:cubicBezTo>
                  <a:lnTo>
                    <a:pt x="0" y="66987"/>
                  </a:lnTo>
                  <a:cubicBezTo>
                    <a:pt x="0" y="29991"/>
                    <a:pt x="29991" y="0"/>
                    <a:pt x="669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2ACD">
                    <a:alpha val="100000"/>
                  </a:srgbClr>
                </a:gs>
                <a:gs pos="100000">
                  <a:srgbClr val="EE4F0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21957" cy="832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395519" y="6201352"/>
            <a:ext cx="5319980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Árvores de Decisão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Criam r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eg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ras de decisão simples e fáceis de interpretar.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Muito u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tilizadas quando a interpretabilidade é importante.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13699"/>
            <a:ext cx="6850225" cy="3844601"/>
            <a:chOff x="0" y="0"/>
            <a:chExt cx="1061279" cy="595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1279" cy="595629"/>
            </a:xfrm>
            <a:custGeom>
              <a:avLst/>
              <a:gdLst/>
              <a:ahLst/>
              <a:cxnLst/>
              <a:rect r="r" b="b" t="t" l="l"/>
              <a:pathLst>
                <a:path h="595629" w="1061279">
                  <a:moveTo>
                    <a:pt x="84763" y="0"/>
                  </a:moveTo>
                  <a:lnTo>
                    <a:pt x="976516" y="0"/>
                  </a:lnTo>
                  <a:cubicBezTo>
                    <a:pt x="1023329" y="0"/>
                    <a:pt x="1061279" y="37950"/>
                    <a:pt x="1061279" y="84763"/>
                  </a:cubicBezTo>
                  <a:lnTo>
                    <a:pt x="1061279" y="510867"/>
                  </a:lnTo>
                  <a:cubicBezTo>
                    <a:pt x="1061279" y="557680"/>
                    <a:pt x="1023329" y="595629"/>
                    <a:pt x="976516" y="595629"/>
                  </a:cubicBezTo>
                  <a:lnTo>
                    <a:pt x="84763" y="595629"/>
                  </a:lnTo>
                  <a:cubicBezTo>
                    <a:pt x="37950" y="595629"/>
                    <a:pt x="0" y="557680"/>
                    <a:pt x="0" y="510867"/>
                  </a:cubicBezTo>
                  <a:lnTo>
                    <a:pt x="0" y="84763"/>
                  </a:lnTo>
                  <a:cubicBezTo>
                    <a:pt x="0" y="37950"/>
                    <a:pt x="37950" y="0"/>
                    <a:pt x="8476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411" r="0" b="-94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877152"/>
            <a:ext cx="6850225" cy="3303037"/>
            <a:chOff x="0" y="0"/>
            <a:chExt cx="1061279" cy="5117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1279" cy="511727"/>
            </a:xfrm>
            <a:custGeom>
              <a:avLst/>
              <a:gdLst/>
              <a:ahLst/>
              <a:cxnLst/>
              <a:rect r="r" b="b" t="t" l="l"/>
              <a:pathLst>
                <a:path h="511727" w="1061279">
                  <a:moveTo>
                    <a:pt x="80242" y="0"/>
                  </a:moveTo>
                  <a:lnTo>
                    <a:pt x="981037" y="0"/>
                  </a:lnTo>
                  <a:cubicBezTo>
                    <a:pt x="1002319" y="0"/>
                    <a:pt x="1022728" y="8454"/>
                    <a:pt x="1037777" y="23502"/>
                  </a:cubicBezTo>
                  <a:cubicBezTo>
                    <a:pt x="1052825" y="38551"/>
                    <a:pt x="1061279" y="58961"/>
                    <a:pt x="1061279" y="80242"/>
                  </a:cubicBezTo>
                  <a:lnTo>
                    <a:pt x="1061279" y="431485"/>
                  </a:lnTo>
                  <a:cubicBezTo>
                    <a:pt x="1061279" y="475801"/>
                    <a:pt x="1025353" y="511727"/>
                    <a:pt x="981037" y="511727"/>
                  </a:cubicBezTo>
                  <a:lnTo>
                    <a:pt x="80242" y="511727"/>
                  </a:lnTo>
                  <a:cubicBezTo>
                    <a:pt x="58961" y="511727"/>
                    <a:pt x="38551" y="503273"/>
                    <a:pt x="23502" y="488225"/>
                  </a:cubicBezTo>
                  <a:cubicBezTo>
                    <a:pt x="8454" y="473176"/>
                    <a:pt x="0" y="452766"/>
                    <a:pt x="0" y="431485"/>
                  </a:cubicBezTo>
                  <a:lnTo>
                    <a:pt x="0" y="80242"/>
                  </a:lnTo>
                  <a:cubicBezTo>
                    <a:pt x="0" y="35926"/>
                    <a:pt x="35926" y="0"/>
                    <a:pt x="8024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9130" r="0" b="-1913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501636" y="2189906"/>
            <a:ext cx="6086529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Como saber se o </a:t>
            </a:r>
            <a:r>
              <a:rPr lang="en-US" b="true" sz="5499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é bom?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1734" y="4163904"/>
            <a:ext cx="8046333" cy="39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Avaliação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dos Modelos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Após o treinamento, utilizamos métricas para verificar o desempenho do modelo em dados que ele ainda não conhece.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Principais métricas: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Accuracy: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percentual de acertos.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Precision: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qualidade das previsões positivas.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Recall: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capacidade de encontrar os casos positivos.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F1-score: 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equilíbrio entre Precision e Recall.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Essas métricas auxiliam na comparação entre diferentes modelos e na escolha da melhor solução para o problema.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62555" y="1334172"/>
            <a:ext cx="9506181" cy="3512116"/>
            <a:chOff x="0" y="0"/>
            <a:chExt cx="164999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9993" cy="609600"/>
            </a:xfrm>
            <a:custGeom>
              <a:avLst/>
              <a:gdLst/>
              <a:ahLst/>
              <a:cxnLst/>
              <a:rect r="r" b="b" t="t" l="l"/>
              <a:pathLst>
                <a:path h="609600" w="1649993">
                  <a:moveTo>
                    <a:pt x="144679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649993" y="609600"/>
                  </a:lnTo>
                  <a:lnTo>
                    <a:pt x="144679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4467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4120" y="2123663"/>
            <a:ext cx="5653537" cy="216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Estudo de caso: </a:t>
            </a:r>
            <a:r>
              <a:rPr lang="en-US" sz="5499" b="true">
                <a:solidFill>
                  <a:srgbClr val="64E9FF"/>
                </a:solidFill>
                <a:latin typeface="Poppins Bold"/>
                <a:ea typeface="Poppins Bold"/>
                <a:cs typeface="Poppins Bold"/>
                <a:sym typeface="Poppins Bold"/>
              </a:rPr>
              <a:t>Previsão de Diabetes</a:t>
            </a:r>
          </a:p>
        </p:txBody>
      </p:sp>
      <p:grpSp>
        <p:nvGrpSpPr>
          <p:cNvPr name="Group 6" id="6"/>
          <p:cNvGrpSpPr/>
          <p:nvPr/>
        </p:nvGrpSpPr>
        <p:grpSpPr>
          <a:xfrm rot="-10800000">
            <a:off x="6147657" y="4144589"/>
            <a:ext cx="14814692" cy="6285888"/>
            <a:chOff x="0" y="0"/>
            <a:chExt cx="1436716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6716" cy="609600"/>
            </a:xfrm>
            <a:custGeom>
              <a:avLst/>
              <a:gdLst/>
              <a:ahLst/>
              <a:cxnLst/>
              <a:rect r="r" b="b" t="t" l="l"/>
              <a:pathLst>
                <a:path h="609600" w="1436716">
                  <a:moveTo>
                    <a:pt x="123351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36716" y="609600"/>
                  </a:lnTo>
                  <a:lnTo>
                    <a:pt x="123351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23351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1105" y="5676284"/>
            <a:ext cx="8402895" cy="3582016"/>
            <a:chOff x="0" y="0"/>
            <a:chExt cx="1301828" cy="554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1828" cy="554948"/>
            </a:xfrm>
            <a:custGeom>
              <a:avLst/>
              <a:gdLst/>
              <a:ahLst/>
              <a:cxnLst/>
              <a:rect r="r" b="b" t="t" l="l"/>
              <a:pathLst>
                <a:path h="554948" w="1301828">
                  <a:moveTo>
                    <a:pt x="69100" y="0"/>
                  </a:moveTo>
                  <a:lnTo>
                    <a:pt x="1232728" y="0"/>
                  </a:lnTo>
                  <a:cubicBezTo>
                    <a:pt x="1270891" y="0"/>
                    <a:pt x="1301828" y="30937"/>
                    <a:pt x="1301828" y="69100"/>
                  </a:cubicBezTo>
                  <a:lnTo>
                    <a:pt x="1301828" y="485848"/>
                  </a:lnTo>
                  <a:cubicBezTo>
                    <a:pt x="1301828" y="504174"/>
                    <a:pt x="1294548" y="521750"/>
                    <a:pt x="1281589" y="534709"/>
                  </a:cubicBezTo>
                  <a:cubicBezTo>
                    <a:pt x="1268630" y="547668"/>
                    <a:pt x="1251054" y="554948"/>
                    <a:pt x="1232728" y="554948"/>
                  </a:cubicBezTo>
                  <a:lnTo>
                    <a:pt x="69100" y="554948"/>
                  </a:lnTo>
                  <a:cubicBezTo>
                    <a:pt x="30937" y="554948"/>
                    <a:pt x="0" y="524011"/>
                    <a:pt x="0" y="485848"/>
                  </a:cubicBezTo>
                  <a:lnTo>
                    <a:pt x="0" y="69100"/>
                  </a:lnTo>
                  <a:cubicBezTo>
                    <a:pt x="0" y="30937"/>
                    <a:pt x="30937" y="0"/>
                    <a:pt x="691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195" r="0" b="-28195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331482" y="4748168"/>
            <a:ext cx="8447042" cy="503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Neste ex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emplo, utilizamos um conjunto de dados contendo informações clínicas de diversos pacientes. O objetivo é prever se um paciente possui ou não diabetes com base em características como: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Número de gestações (Pregnancies);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Nível de glicose (Glucose);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Pressão arterial (Blood Pressure);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Espessura da pele (Skin Thickness);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Nível de insulina (Insulin);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Índice de Massa Corporal (BMI);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Histórico familiar (Diabetes Pedigree Function);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Idade (Age).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Essas variáveis são utilizadas como entrada para um algoritmo de Machine Learning, que aprende padrões presentes nos dados e passa a realizar previsões para novos pacientes.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1482" y="1522636"/>
            <a:ext cx="7659053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 o Machine Learning pode auxiliar na área da saúde?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Um dos problemas mais comuns resolvidos por algoritmos de Machine Learning é a classificação de pacientes com maior probabilidade de desenvolver determinadas doenças.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78873"/>
            <a:ext cx="6263510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64E9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dos modelos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09823" y="1535833"/>
            <a:ext cx="8749477" cy="4608587"/>
            <a:chOff x="0" y="0"/>
            <a:chExt cx="1157335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7335" cy="609600"/>
            </a:xfrm>
            <a:custGeom>
              <a:avLst/>
              <a:gdLst/>
              <a:ahLst/>
              <a:cxnLst/>
              <a:rect r="r" b="b" t="t" l="l"/>
              <a:pathLst>
                <a:path h="609600" w="1157335">
                  <a:moveTo>
                    <a:pt x="9541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57335" y="609600"/>
                  </a:lnTo>
                  <a:lnTo>
                    <a:pt x="95413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954135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9292165" y="-787885"/>
            <a:ext cx="13442108" cy="5703499"/>
            <a:chOff x="0" y="0"/>
            <a:chExt cx="1436716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6716" cy="609600"/>
            </a:xfrm>
            <a:custGeom>
              <a:avLst/>
              <a:gdLst/>
              <a:ahLst/>
              <a:cxnLst/>
              <a:rect r="r" b="b" t="t" l="l"/>
              <a:pathLst>
                <a:path h="609600" w="1436716">
                  <a:moveTo>
                    <a:pt x="123351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36716" y="609600"/>
                  </a:lnTo>
                  <a:lnTo>
                    <a:pt x="123351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23351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894173"/>
            <a:ext cx="6444843" cy="471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</a:t>
            </a: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 escolher o melhor modelo?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 Machine Learning, não existe um algoritmo que seja o melhor para todos os problemas. Por isso, é comum treinar diferentes modelos e comparar seus resultados utilizando métricas de desempenho.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No grupo de estudos, avaliamos modelos como: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Regressão Logística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K-Nearest Neighbors (KNN)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Support Vector Machine (SVM)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escolha do modelo deve considerar tanto as métricas obtidas quanto as características do problema e dos dados analisados.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662855" y="3138488"/>
          <a:ext cx="8443413" cy="4010025"/>
        </p:xfrm>
        <a:graphic>
          <a:graphicData uri="http://schemas.openxmlformats.org/drawingml/2006/table">
            <a:tbl>
              <a:tblPr/>
              <a:tblGrid>
                <a:gridCol w="4361982"/>
                <a:gridCol w="4081430"/>
              </a:tblGrid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Mo</a:t>
                      </a:r>
                      <a:r>
                        <a:rPr lang="en-US" b="true" sz="1999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delo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278EC4">
                            <a:alpha val="100000"/>
                          </a:srgbClr>
                        </a:gs>
                        <a:gs pos="100000">
                          <a:srgbClr val="522AC6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</a:t>
                      </a:r>
                      <a:r>
                        <a:rPr lang="en-US" b="true" sz="1999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278EC4">
                            <a:alpha val="100000"/>
                          </a:srgbClr>
                        </a:gs>
                        <a:gs pos="100000">
                          <a:srgbClr val="522AC6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</a:t>
                      </a: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ressão Logística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r>
                        <a:rPr lang="en-US" sz="1999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74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6816" y="2083289"/>
            <a:ext cx="7457480" cy="4608587"/>
            <a:chOff x="0" y="0"/>
            <a:chExt cx="986437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6437" cy="609600"/>
            </a:xfrm>
            <a:custGeom>
              <a:avLst/>
              <a:gdLst/>
              <a:ahLst/>
              <a:cxnLst/>
              <a:rect r="r" b="b" t="t" l="l"/>
              <a:pathLst>
                <a:path h="609600" w="986437">
                  <a:moveTo>
                    <a:pt x="783237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986437" y="609600"/>
                  </a:lnTo>
                  <a:lnTo>
                    <a:pt x="7832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783237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342164" y="-1315917"/>
            <a:ext cx="13442108" cy="5703499"/>
            <a:chOff x="0" y="0"/>
            <a:chExt cx="1436716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6716" cy="609600"/>
            </a:xfrm>
            <a:custGeom>
              <a:avLst/>
              <a:gdLst/>
              <a:ahLst/>
              <a:cxnLst/>
              <a:rect r="r" b="b" t="t" l="l"/>
              <a:pathLst>
                <a:path h="609600" w="1436716">
                  <a:moveTo>
                    <a:pt x="123351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36716" y="609600"/>
                  </a:lnTo>
                  <a:lnTo>
                    <a:pt x="123351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23351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86866" y="3006827"/>
            <a:ext cx="6009215" cy="5378351"/>
            <a:chOff x="0" y="0"/>
            <a:chExt cx="1055593" cy="944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5593" cy="944774"/>
            </a:xfrm>
            <a:custGeom>
              <a:avLst/>
              <a:gdLst/>
              <a:ahLst/>
              <a:cxnLst/>
              <a:rect r="r" b="b" t="t" l="l"/>
              <a:pathLst>
                <a:path h="944774" w="1055593">
                  <a:moveTo>
                    <a:pt x="83742" y="0"/>
                  </a:moveTo>
                  <a:lnTo>
                    <a:pt x="971851" y="0"/>
                  </a:lnTo>
                  <a:cubicBezTo>
                    <a:pt x="1018100" y="0"/>
                    <a:pt x="1055593" y="37493"/>
                    <a:pt x="1055593" y="83742"/>
                  </a:cubicBezTo>
                  <a:lnTo>
                    <a:pt x="1055593" y="861032"/>
                  </a:lnTo>
                  <a:cubicBezTo>
                    <a:pt x="1055593" y="883241"/>
                    <a:pt x="1046770" y="904542"/>
                    <a:pt x="1031065" y="920246"/>
                  </a:cubicBezTo>
                  <a:cubicBezTo>
                    <a:pt x="1015361" y="935951"/>
                    <a:pt x="994060" y="944774"/>
                    <a:pt x="971851" y="944774"/>
                  </a:cubicBezTo>
                  <a:lnTo>
                    <a:pt x="83742" y="944774"/>
                  </a:lnTo>
                  <a:cubicBezTo>
                    <a:pt x="37493" y="944774"/>
                    <a:pt x="0" y="907281"/>
                    <a:pt x="0" y="861032"/>
                  </a:cubicBezTo>
                  <a:lnTo>
                    <a:pt x="0" y="83742"/>
                  </a:lnTo>
                  <a:cubicBezTo>
                    <a:pt x="0" y="37493"/>
                    <a:pt x="37493" y="0"/>
                    <a:pt x="83742" y="0"/>
                  </a:cubicBezTo>
                  <a:close/>
                </a:path>
              </a:pathLst>
            </a:custGeom>
            <a:blipFill>
              <a:blip r:embed="rId2"/>
              <a:stretch>
                <a:fillRect l="-29557" t="0" r="-29557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54523" y="1592983"/>
            <a:ext cx="15178955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Desafios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em projetos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de 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1919" y="2968727"/>
            <a:ext cx="9342731" cy="52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</a:t>
            </a: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reinar um modelo é apenas parte do trabalho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Embora os algoritmos sejam importantes, grande parte do sucesso de um projeto de Machine Learning depende da qualidade dos dados disponíveis.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Alguns desafios comuns encontrados na prática são: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Dados incompletos ou com valores ausentes;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Dados inconsistentes ou duplicados;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Classes desbalanceadas;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Overfitting (quando o modelo memoriza os dados de treinamento);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Underfitting (quando o modelo é simples demais para aprender os padrões);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Escolha adequada das métricas de avaliação.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Durante o grupo de estudos, discutimos esses desafios e mostramos como técnicas de pré-processamento, validação cruzada e comparação de modelos ajudam a construir soluções mais robustas.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25552"/>
            <a:ext cx="6813522" cy="6098220"/>
            <a:chOff x="0" y="0"/>
            <a:chExt cx="1055593" cy="9447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5593" cy="944774"/>
            </a:xfrm>
            <a:custGeom>
              <a:avLst/>
              <a:gdLst/>
              <a:ahLst/>
              <a:cxnLst/>
              <a:rect r="r" b="b" t="t" l="l"/>
              <a:pathLst>
                <a:path h="944774" w="1055593">
                  <a:moveTo>
                    <a:pt x="79538" y="0"/>
                  </a:moveTo>
                  <a:lnTo>
                    <a:pt x="976055" y="0"/>
                  </a:lnTo>
                  <a:cubicBezTo>
                    <a:pt x="997150" y="0"/>
                    <a:pt x="1017380" y="8380"/>
                    <a:pt x="1032297" y="23296"/>
                  </a:cubicBezTo>
                  <a:cubicBezTo>
                    <a:pt x="1047213" y="38212"/>
                    <a:pt x="1055593" y="58443"/>
                    <a:pt x="1055593" y="79538"/>
                  </a:cubicBezTo>
                  <a:lnTo>
                    <a:pt x="1055593" y="865236"/>
                  </a:lnTo>
                  <a:cubicBezTo>
                    <a:pt x="1055593" y="886331"/>
                    <a:pt x="1047213" y="906561"/>
                    <a:pt x="1032297" y="921478"/>
                  </a:cubicBezTo>
                  <a:cubicBezTo>
                    <a:pt x="1017380" y="936394"/>
                    <a:pt x="997150" y="944774"/>
                    <a:pt x="976055" y="944774"/>
                  </a:cubicBezTo>
                  <a:lnTo>
                    <a:pt x="79538" y="944774"/>
                  </a:lnTo>
                  <a:cubicBezTo>
                    <a:pt x="58443" y="944774"/>
                    <a:pt x="38212" y="936394"/>
                    <a:pt x="23296" y="921478"/>
                  </a:cubicBezTo>
                  <a:cubicBezTo>
                    <a:pt x="8380" y="906561"/>
                    <a:pt x="0" y="886331"/>
                    <a:pt x="0" y="865236"/>
                  </a:cubicBezTo>
                  <a:lnTo>
                    <a:pt x="0" y="79538"/>
                  </a:lnTo>
                  <a:cubicBezTo>
                    <a:pt x="0" y="58443"/>
                    <a:pt x="8380" y="38212"/>
                    <a:pt x="23296" y="23296"/>
                  </a:cubicBezTo>
                  <a:cubicBezTo>
                    <a:pt x="38212" y="8380"/>
                    <a:pt x="58443" y="0"/>
                    <a:pt x="79538" y="0"/>
                  </a:cubicBezTo>
                  <a:close/>
                </a:path>
              </a:pathLst>
            </a:custGeom>
            <a:blipFill>
              <a:blip r:embed="rId2"/>
              <a:stretch>
                <a:fillRect l="-17126" t="0" r="-17126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230226" y="1225650"/>
            <a:ext cx="8475104" cy="84751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93318" y="812800"/>
                    <a:pt x="61015" y="799420"/>
                    <a:pt x="37197" y="775603"/>
                  </a:cubicBezTo>
                  <a:cubicBezTo>
                    <a:pt x="13380" y="751785"/>
                    <a:pt x="0" y="719482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90126" y="1500819"/>
            <a:ext cx="8640100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O que desenvolvemos </a:t>
            </a:r>
            <a:r>
              <a:rPr lang="en-US" sz="5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 grupo de estudos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40253" y="1948794"/>
            <a:ext cx="6655051" cy="699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</a:t>
            </a: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rincipais competências desenvolvidas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Ao longo das 17 semanas de atividades, os participantes tiveram contato com todas as etapas fundamentais de um projeto de Machine Learning.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Entre os principais conteúdos estudados estão: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Programação em Python para Ciência de Dados;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Manipulação de dados com Pandas;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Visualização de dados com Matplotlib e Seaborn;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Análise Exploratória de Dados (EDA);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Pré-processamento e tratamento de dados;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Construção de modelos supervisionados;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Comparação e avaliação de algoritmos;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Desenvolvimento de projetos práticos utilizando Scikit-learn.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Além do conteúdo técnico, o grupo também incentivou o desenvolvimento do pensamento crítico, da resolução de problemas e da colaboração entre os participantes por meio de atividades práticas.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38026"/>
            <a:ext cx="6958776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FF9BCD"/>
                </a:solidFill>
                <a:latin typeface="Poppins Bold"/>
                <a:ea typeface="Poppins Bold"/>
                <a:cs typeface="Poppins Bold"/>
                <a:sym typeface="Poppins Bold"/>
              </a:rPr>
              <a:t>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03415" y="5209684"/>
            <a:ext cx="11655885" cy="3512116"/>
            <a:chOff x="0" y="0"/>
            <a:chExt cx="2023119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3119" cy="609600"/>
            </a:xfrm>
            <a:custGeom>
              <a:avLst/>
              <a:gdLst/>
              <a:ahLst/>
              <a:cxnLst/>
              <a:rect r="r" b="b" t="t" l="l"/>
              <a:pathLst>
                <a:path h="609600" w="2023119">
                  <a:moveTo>
                    <a:pt x="181991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023119" y="609600"/>
                  </a:lnTo>
                  <a:lnTo>
                    <a:pt x="181991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81991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11665" y="1028700"/>
            <a:ext cx="13328758" cy="3512116"/>
            <a:chOff x="0" y="0"/>
            <a:chExt cx="231348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3480" cy="609600"/>
            </a:xfrm>
            <a:custGeom>
              <a:avLst/>
              <a:gdLst/>
              <a:ahLst/>
              <a:cxnLst/>
              <a:rect r="r" b="b" t="t" l="l"/>
              <a:pathLst>
                <a:path h="609600" w="2313480">
                  <a:moveTo>
                    <a:pt x="211028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313480" y="609600"/>
                  </a:lnTo>
                  <a:lnTo>
                    <a:pt x="211028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11028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673183"/>
            <a:ext cx="6813522" cy="4585117"/>
            <a:chOff x="0" y="0"/>
            <a:chExt cx="1055593" cy="7103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5593" cy="710355"/>
            </a:xfrm>
            <a:custGeom>
              <a:avLst/>
              <a:gdLst/>
              <a:ahLst/>
              <a:cxnLst/>
              <a:rect r="r" b="b" t="t" l="l"/>
              <a:pathLst>
                <a:path h="710355" w="1055593">
                  <a:moveTo>
                    <a:pt x="85219" y="0"/>
                  </a:moveTo>
                  <a:lnTo>
                    <a:pt x="970374" y="0"/>
                  </a:lnTo>
                  <a:cubicBezTo>
                    <a:pt x="1017439" y="0"/>
                    <a:pt x="1055593" y="38154"/>
                    <a:pt x="1055593" y="85219"/>
                  </a:cubicBezTo>
                  <a:lnTo>
                    <a:pt x="1055593" y="625135"/>
                  </a:lnTo>
                  <a:cubicBezTo>
                    <a:pt x="1055593" y="647737"/>
                    <a:pt x="1046614" y="669413"/>
                    <a:pt x="1030633" y="685394"/>
                  </a:cubicBezTo>
                  <a:cubicBezTo>
                    <a:pt x="1014651" y="701376"/>
                    <a:pt x="992975" y="710355"/>
                    <a:pt x="970374" y="710355"/>
                  </a:cubicBezTo>
                  <a:lnTo>
                    <a:pt x="85219" y="710355"/>
                  </a:lnTo>
                  <a:cubicBezTo>
                    <a:pt x="38154" y="710355"/>
                    <a:pt x="0" y="672201"/>
                    <a:pt x="0" y="625135"/>
                  </a:cubicBezTo>
                  <a:lnTo>
                    <a:pt x="0" y="85219"/>
                  </a:lnTo>
                  <a:cubicBezTo>
                    <a:pt x="0" y="38154"/>
                    <a:pt x="38154" y="0"/>
                    <a:pt x="85219" y="0"/>
                  </a:cubicBezTo>
                  <a:close/>
                </a:path>
              </a:pathLst>
            </a:custGeom>
            <a:blipFill>
              <a:blip r:embed="rId2"/>
              <a:stretch>
                <a:fillRect l="-470" t="0" r="-47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64655" y="5526514"/>
            <a:ext cx="7774175" cy="28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longo deste workshop, apresentamos os principais conceitos da área, o fluxo de desenvolvimento de um projeto de Machine Learning e uma visão geral dos conteúdos trabalhados no Grupo de Estudos de Machine Learning do PANDA.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Esperamos que esta apresentação desperte o interesse dos participantes em aprofundar seus conhecimentos e explorar novas aplicações dessa tecnologia.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Muito obrigada pela atenção!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14278" y="1502693"/>
            <a:ext cx="7022003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Machin</a:t>
            </a: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 Learning como ferramenta para resolver problemas reais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Machine Learning está cada vez mais presente em diferentes áreas do conhecimento e do mercado de trabalho. Mais do que aprender algoritmos, compreender todo o processo de desenvolvimento de soluções baseadas em dados é uma habilidade essencial para profissionais da Computação, Ciência de Dados e Inteligência Artificial.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0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40259" y="0"/>
            <a:ext cx="9578340" cy="4608587"/>
            <a:chOff x="0" y="0"/>
            <a:chExt cx="126697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6970860"/>
            <a:ext cx="9578340" cy="4608587"/>
            <a:chOff x="0" y="0"/>
            <a:chExt cx="1266973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1266973">
                  <a:moveTo>
                    <a:pt x="10637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266973" y="609600"/>
                  </a:lnTo>
                  <a:lnTo>
                    <a:pt x="10637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0004F">
                    <a:alpha val="100000"/>
                  </a:srgbClr>
                </a:gs>
                <a:gs pos="100000">
                  <a:srgbClr val="472D6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0637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06880" y="1331359"/>
            <a:ext cx="6309094" cy="7624283"/>
          </a:xfrm>
          <a:custGeom>
            <a:avLst/>
            <a:gdLst/>
            <a:ahLst/>
            <a:cxnLst/>
            <a:rect r="r" b="b" t="t" l="l"/>
            <a:pathLst>
              <a:path h="7624283" w="6309094">
                <a:moveTo>
                  <a:pt x="0" y="0"/>
                </a:moveTo>
                <a:lnTo>
                  <a:pt x="6309094" y="0"/>
                </a:lnTo>
                <a:lnTo>
                  <a:pt x="6309094" y="7624282"/>
                </a:lnTo>
                <a:lnTo>
                  <a:pt x="0" y="762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3228" y="4337344"/>
            <a:ext cx="8115300" cy="172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01"/>
              </a:lnSpc>
            </a:pPr>
            <a:r>
              <a:rPr lang="en-US" sz="1210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890" y="342726"/>
            <a:ext cx="21280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PANDA </a:t>
            </a:r>
            <a:r>
              <a:rPr lang="en-US" b="true" sz="1999" spc="-39">
                <a:solidFill>
                  <a:srgbClr val="64E9FF"/>
                </a:solidFill>
                <a:latin typeface="Lato Bold"/>
                <a:ea typeface="Lato Bold"/>
                <a:cs typeface="Lato Bold"/>
                <a:sym typeface="Lato Bold"/>
              </a:rPr>
              <a:t>UFSCar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DAHQ-39Q1Z8</dc:identifier>
  <dcterms:modified xsi:type="dcterms:W3CDTF">2011-08-01T06:04:30Z</dcterms:modified>
  <cp:revision>1</cp:revision>
  <dc:title>Workshop PANDA - Machine Learning</dc:title>
</cp:coreProperties>
</file>
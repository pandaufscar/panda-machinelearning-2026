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3257">
            <a:off x="9513011" y="841800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36262">
            <a:off x="-3199667" y="1253033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8" y="0"/>
                </a:lnTo>
                <a:lnTo>
                  <a:pt x="5964978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27512" y="1697462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54031" y="9258300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54344" y="8454648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195004" y="2381479"/>
            <a:ext cx="8064296" cy="5524043"/>
          </a:xfrm>
          <a:custGeom>
            <a:avLst/>
            <a:gdLst/>
            <a:ahLst/>
            <a:cxnLst/>
            <a:rect r="r" b="b" t="t" l="l"/>
            <a:pathLst>
              <a:path h="5524043" w="8064296">
                <a:moveTo>
                  <a:pt x="0" y="0"/>
                </a:moveTo>
                <a:lnTo>
                  <a:pt x="8064296" y="0"/>
                </a:lnTo>
                <a:lnTo>
                  <a:pt x="8064296" y="5524042"/>
                </a:lnTo>
                <a:lnTo>
                  <a:pt x="0" y="55240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3743325"/>
            <a:ext cx="8115300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 AO MACHINE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191250"/>
            <a:ext cx="75988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– Universidade Federal de São Carlos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" y="8874125"/>
            <a:ext cx="2395306" cy="395195"/>
            <a:chOff x="0" y="0"/>
            <a:chExt cx="630862" cy="10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66428" y="8943975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</a:t>
            </a: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16662" y="1147445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600" y="2578043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63991" y="816794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846420" y="8328741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69321" y="9072068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048336" y="9149015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Freeform 33" id="33"/>
          <p:cNvSpPr/>
          <p:nvPr/>
        </p:nvSpPr>
        <p:spPr>
          <a:xfrm flipH="true" flipV="false" rot="0">
            <a:off x="2226353" y="2520893"/>
            <a:ext cx="7297595" cy="5454952"/>
          </a:xfrm>
          <a:custGeom>
            <a:avLst/>
            <a:gdLst/>
            <a:ahLst/>
            <a:cxnLst/>
            <a:rect r="r" b="b" t="t" l="l"/>
            <a:pathLst>
              <a:path h="5454952" w="7297595">
                <a:moveTo>
                  <a:pt x="7297595" y="0"/>
                </a:moveTo>
                <a:lnTo>
                  <a:pt x="0" y="0"/>
                </a:lnTo>
                <a:lnTo>
                  <a:pt x="0" y="5454952"/>
                </a:lnTo>
                <a:lnTo>
                  <a:pt x="7297595" y="5454952"/>
                </a:lnTo>
                <a:lnTo>
                  <a:pt x="729759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752720" y="2136309"/>
            <a:ext cx="5989556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DO MINICURSO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5931" y="3688203"/>
            <a:ext cx="7670358" cy="51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1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Ao longo deste minicurso, serão apresentados os principais conceitos relacionados ao Machine Learning, desde sua definição até as etapas envolvidas na construção de um modelo preditivo.</a:t>
            </a:r>
          </a:p>
          <a:p>
            <a:pPr algn="just">
              <a:lnSpc>
                <a:spcPts val="2441"/>
              </a:lnSpc>
            </a:pPr>
          </a:p>
          <a:p>
            <a:pPr algn="just">
              <a:lnSpc>
                <a:spcPts val="2441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Ao final da atividade, espera-se que os participantes sejam capazes de: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ompreender o que é Machine Learning e suas principais aplicações;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iferenciar os tipos de aprendizado de máquina;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ntender as etapas de desenvolvimento de um projeto de Machine Learning;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onhecer os principais algoritmos supervisionados;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nterpretar métricas utilizadas na avaliação de modelos;</a:t>
            </a:r>
          </a:p>
          <a:p>
            <a:pPr algn="just" marL="474979" indent="-237490" lvl="1">
              <a:lnSpc>
                <a:spcPts val="2441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companhar a construção de um modelo prático utilizando Python e Scikit-learn.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80284" y="2146493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95751" y="2931843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6662" y="9407413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4377976" y="8589332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523756" y="2931843"/>
            <a:ext cx="7556529" cy="5018794"/>
          </a:xfrm>
          <a:custGeom>
            <a:avLst/>
            <a:gdLst/>
            <a:ahLst/>
            <a:cxnLst/>
            <a:rect r="r" b="b" t="t" l="l"/>
            <a:pathLst>
              <a:path h="5018794" w="7556529">
                <a:moveTo>
                  <a:pt x="0" y="0"/>
                </a:moveTo>
                <a:lnTo>
                  <a:pt x="7556528" y="0"/>
                </a:lnTo>
                <a:lnTo>
                  <a:pt x="7556528" y="5018795"/>
                </a:lnTo>
                <a:lnTo>
                  <a:pt x="0" y="5018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069485">
            <a:off x="6600299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2006107"/>
            <a:ext cx="7367051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INTELIGÊNCIA ARTIFICIAL?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0121" y="3638057"/>
            <a:ext cx="8220598" cy="488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1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 Inteligência Artificial (IA) é uma área da Ciência da Computação que busca desenvolver sistemas capazes de executar tarefas que normalmente exigiriam inteligência humana, como reconhecer padrões, interpretar informações, aprender com experiências e auxiliar na tomada de decisões.</a:t>
            </a:r>
          </a:p>
          <a:p>
            <a:pPr algn="just">
              <a:lnSpc>
                <a:spcPts val="2441"/>
              </a:lnSpc>
            </a:pPr>
          </a:p>
          <a:p>
            <a:pPr algn="just">
              <a:lnSpc>
                <a:spcPts val="2441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Dentro da Inteligência Artificial existem diferentes subáreas. Entre elas, destaca-se o Machine Learning, que permite que computadores aprendam automaticamente a partir dos dados, sem que todas as regras precisem ser programadas manualmente.</a:t>
            </a:r>
          </a:p>
          <a:p>
            <a:pPr algn="just">
              <a:lnSpc>
                <a:spcPts val="2441"/>
              </a:lnSpc>
            </a:pPr>
          </a:p>
          <a:p>
            <a:pPr algn="just">
              <a:lnSpc>
                <a:spcPts val="2441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Outra importante subárea é o Deep Learning, que utiliza redes neurais artificiais para resolver problemas mais complexos, como reconhecimento de imagens, processamento de linguagem natural e sistemas de recomendação.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9818" y="4516887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21958" y="8341543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1603552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63994" y="9258300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043010" y="9335247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16662" y="1124585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77209" y="2745728"/>
            <a:ext cx="8686269" cy="4795544"/>
          </a:xfrm>
          <a:custGeom>
            <a:avLst/>
            <a:gdLst/>
            <a:ahLst/>
            <a:cxnLst/>
            <a:rect r="r" b="b" t="t" l="l"/>
            <a:pathLst>
              <a:path h="4795544" w="8686269">
                <a:moveTo>
                  <a:pt x="0" y="0"/>
                </a:moveTo>
                <a:lnTo>
                  <a:pt x="8686268" y="0"/>
                </a:lnTo>
                <a:lnTo>
                  <a:pt x="8686268" y="4795544"/>
                </a:lnTo>
                <a:lnTo>
                  <a:pt x="0" y="4795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430940" y="2247969"/>
            <a:ext cx="662034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MACHINE LEARNING?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96741" y="3913688"/>
            <a:ext cx="7488737" cy="442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Machine Learning (Aprendizado de Máquina) é uma subárea da Inteligência Artificial dedicada ao desenvolvimento de algoritmos capazes de aprender padrões presentes em conjuntos de dados.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Em vez de receber regras fixas para executar uma tarefa, o algoritmo utiliza exemplos durante o treinamento para construir um modelo matemático capaz de realizar previsões ou classificações sobre novos dados.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Essa capacidade de aprender a partir de experiências torna o Machine Learning uma das tecnologias mais utilizadas atualmente em aplicações como sistemas de recomendação, diagnósticos médicos, detecção de fraudes, previsão de demanda e reconhecimento de imagens.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9416" y="2530918"/>
            <a:ext cx="7349884" cy="5374603"/>
          </a:xfrm>
          <a:custGeom>
            <a:avLst/>
            <a:gdLst/>
            <a:ahLst/>
            <a:cxnLst/>
            <a:rect r="r" b="b" t="t" l="l"/>
            <a:pathLst>
              <a:path h="5374603" w="7349884">
                <a:moveTo>
                  <a:pt x="0" y="0"/>
                </a:moveTo>
                <a:lnTo>
                  <a:pt x="7349884" y="0"/>
                </a:lnTo>
                <a:lnTo>
                  <a:pt x="7349884" y="5374603"/>
                </a:lnTo>
                <a:lnTo>
                  <a:pt x="0" y="537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13257">
            <a:off x="9513011" y="841800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36262">
            <a:off x="-3199667" y="1253033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8" y="0"/>
                </a:lnTo>
                <a:lnTo>
                  <a:pt x="5964978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06077" y="2079482"/>
            <a:ext cx="405581" cy="4055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3613475"/>
            <a:ext cx="463521" cy="405581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30933" y="8454648"/>
            <a:ext cx="419477" cy="4194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8874125"/>
            <a:ext cx="2395306" cy="395195"/>
            <a:chOff x="0" y="0"/>
            <a:chExt cx="630862" cy="1040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5910" y="2127107"/>
            <a:ext cx="8382957" cy="131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49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ONDE O MACHINE LEARNING ESTÁ PRESENTE?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6428" y="8943975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5910" y="3758305"/>
            <a:ext cx="8392076" cy="442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Machine Learning está presente em diversas aplicações utilizadas diariamente, muitas vezes sem que percebamos.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Alguns exemplos incluem: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ecomendação de filmes, séries e músicas em plataformas de streaming;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iltros de spam em serviços de e-mail;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etecção de fraudes em instituições financeiras;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econhecimento facial em dispositivos móveis;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revisão de doenças e apoio ao diagnóstico médico;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istemas de navegação e previsão de trânsito;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ssistentes virtuais e Inteligência Artificial Generativa.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crescimento da quantidade de dados disponíveis e do poder computacional tem impulsionado a utilização do Machine Learning em praticamente todos os setores da sociedade.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68116" y="1553317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52844" y="9258300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48342" y="3171370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72513" y="9258300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151529" y="9335247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76839" y="2408287"/>
            <a:ext cx="7567161" cy="5470427"/>
          </a:xfrm>
          <a:custGeom>
            <a:avLst/>
            <a:gdLst/>
            <a:ahLst/>
            <a:cxnLst/>
            <a:rect r="r" b="b" t="t" l="l"/>
            <a:pathLst>
              <a:path h="5470427" w="7567161">
                <a:moveTo>
                  <a:pt x="0" y="0"/>
                </a:moveTo>
                <a:lnTo>
                  <a:pt x="7567161" y="0"/>
                </a:lnTo>
                <a:lnTo>
                  <a:pt x="7567161" y="5470426"/>
                </a:lnTo>
                <a:lnTo>
                  <a:pt x="0" y="5470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922396" y="2254173"/>
            <a:ext cx="6860401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COMO O MACHINE LEARNING APRENDE?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3107" y="3886123"/>
            <a:ext cx="8038977" cy="498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aprendizado de um algoritmo ocorre a partir da análise de exemplos. Durante o treinamento, o modelo recebe um conjunto de dados contendo informações sobre um determinado problema e busca identificar padrões que relacionem as variáveis de entrada com a resposta esperada.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Após esse processo, o modelo é capaz de realizar previsões para novos dados que nunca foram utilizados durante o treinamento.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objetivo do Machine Learning não é memorizar os dados, mas aprender padrões que possam ser generalizados para novas situações.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Dados de pacientes → previsão de diabetes;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Dados de alunos → previsão de evasão escolar;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Dados de clientes → previsão de inadimplência.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11093" y="1939813"/>
            <a:ext cx="463521" cy="405581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6123" y="7359446"/>
            <a:ext cx="419477" cy="4194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97810" y="9495610"/>
            <a:ext cx="2395306" cy="395195"/>
            <a:chOff x="0" y="0"/>
            <a:chExt cx="630862" cy="1040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1069485">
            <a:off x="493730" y="8335927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1069485">
            <a:off x="6634724" y="-4808413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2"/>
                </a:lnTo>
                <a:lnTo>
                  <a:pt x="0" y="600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231475" y="2345394"/>
            <a:ext cx="5115372" cy="3645128"/>
            <a:chOff x="0" y="0"/>
            <a:chExt cx="1347258" cy="9600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7258" cy="960034"/>
            </a:xfrm>
            <a:custGeom>
              <a:avLst/>
              <a:gdLst/>
              <a:ahLst/>
              <a:cxnLst/>
              <a:rect r="r" b="b" t="t" l="l"/>
              <a:pathLst>
                <a:path h="960034" w="1347258">
                  <a:moveTo>
                    <a:pt x="77187" y="0"/>
                  </a:moveTo>
                  <a:lnTo>
                    <a:pt x="1270072" y="0"/>
                  </a:lnTo>
                  <a:cubicBezTo>
                    <a:pt x="1290543" y="0"/>
                    <a:pt x="1310176" y="8132"/>
                    <a:pt x="1324651" y="22607"/>
                  </a:cubicBezTo>
                  <a:cubicBezTo>
                    <a:pt x="1339126" y="37083"/>
                    <a:pt x="1347258" y="56715"/>
                    <a:pt x="1347258" y="77187"/>
                  </a:cubicBezTo>
                  <a:lnTo>
                    <a:pt x="1347258" y="882847"/>
                  </a:lnTo>
                  <a:cubicBezTo>
                    <a:pt x="1347258" y="925476"/>
                    <a:pt x="1312701" y="960034"/>
                    <a:pt x="1270072" y="960034"/>
                  </a:cubicBezTo>
                  <a:lnTo>
                    <a:pt x="77187" y="960034"/>
                  </a:lnTo>
                  <a:cubicBezTo>
                    <a:pt x="56715" y="960034"/>
                    <a:pt x="37083" y="951902"/>
                    <a:pt x="22607" y="937426"/>
                  </a:cubicBezTo>
                  <a:cubicBezTo>
                    <a:pt x="8132" y="922951"/>
                    <a:pt x="0" y="903318"/>
                    <a:pt x="0" y="882847"/>
                  </a:cubicBezTo>
                  <a:lnTo>
                    <a:pt x="0" y="77187"/>
                  </a:lnTo>
                  <a:cubicBezTo>
                    <a:pt x="0" y="56715"/>
                    <a:pt x="8132" y="37083"/>
                    <a:pt x="22607" y="22607"/>
                  </a:cubicBezTo>
                  <a:cubicBezTo>
                    <a:pt x="37083" y="8132"/>
                    <a:pt x="56715" y="0"/>
                    <a:pt x="77187" y="0"/>
                  </a:cubicBezTo>
                  <a:close/>
                </a:path>
              </a:pathLst>
            </a:custGeom>
            <a:solidFill>
              <a:srgbClr val="03268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1347258" cy="912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576826" y="9572557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7972" y="3150337"/>
            <a:ext cx="6077252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TIPOS DE MACHINE LEARNING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68734" y="2584587"/>
            <a:ext cx="2640853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Aprendizado Supervisionado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17441" y="3348256"/>
            <a:ext cx="4625155" cy="249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dados rotulados, ou seja, exemplos que já possuem a resposta correta. O objetivo é aprender uma relação entre as variáveis de entrada e a variável de saída.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Exemplos: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revisão de preços;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etecção de spam;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lassificação de doenças.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7972" y="4950794"/>
            <a:ext cx="6077252" cy="111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Os algoritmos de Machine Learning podem aprender de diferentes maneiras, dependendo do tipo de problema e da dis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nibilidade de informações.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622170" y="2345394"/>
            <a:ext cx="5115372" cy="3645128"/>
            <a:chOff x="0" y="0"/>
            <a:chExt cx="1347258" cy="9600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7258" cy="960034"/>
            </a:xfrm>
            <a:custGeom>
              <a:avLst/>
              <a:gdLst/>
              <a:ahLst/>
              <a:cxnLst/>
              <a:rect r="r" b="b" t="t" l="l"/>
              <a:pathLst>
                <a:path h="960034" w="1347258">
                  <a:moveTo>
                    <a:pt x="77187" y="0"/>
                  </a:moveTo>
                  <a:lnTo>
                    <a:pt x="1270072" y="0"/>
                  </a:lnTo>
                  <a:cubicBezTo>
                    <a:pt x="1290543" y="0"/>
                    <a:pt x="1310176" y="8132"/>
                    <a:pt x="1324651" y="22607"/>
                  </a:cubicBezTo>
                  <a:cubicBezTo>
                    <a:pt x="1339126" y="37083"/>
                    <a:pt x="1347258" y="56715"/>
                    <a:pt x="1347258" y="77187"/>
                  </a:cubicBezTo>
                  <a:lnTo>
                    <a:pt x="1347258" y="882847"/>
                  </a:lnTo>
                  <a:cubicBezTo>
                    <a:pt x="1347258" y="925476"/>
                    <a:pt x="1312701" y="960034"/>
                    <a:pt x="1270072" y="960034"/>
                  </a:cubicBezTo>
                  <a:lnTo>
                    <a:pt x="77187" y="960034"/>
                  </a:lnTo>
                  <a:cubicBezTo>
                    <a:pt x="56715" y="960034"/>
                    <a:pt x="37083" y="951902"/>
                    <a:pt x="22607" y="937426"/>
                  </a:cubicBezTo>
                  <a:cubicBezTo>
                    <a:pt x="8132" y="922951"/>
                    <a:pt x="0" y="903318"/>
                    <a:pt x="0" y="882847"/>
                  </a:cubicBezTo>
                  <a:lnTo>
                    <a:pt x="0" y="77187"/>
                  </a:lnTo>
                  <a:cubicBezTo>
                    <a:pt x="0" y="56715"/>
                    <a:pt x="8132" y="37083"/>
                    <a:pt x="22607" y="22607"/>
                  </a:cubicBezTo>
                  <a:cubicBezTo>
                    <a:pt x="37083" y="8132"/>
                    <a:pt x="56715" y="0"/>
                    <a:pt x="77187" y="0"/>
                  </a:cubicBezTo>
                  <a:close/>
                </a:path>
              </a:pathLst>
            </a:custGeom>
            <a:solidFill>
              <a:srgbClr val="698EE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47625"/>
              <a:ext cx="1347258" cy="912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26822" y="6266625"/>
            <a:ext cx="5115372" cy="3645128"/>
            <a:chOff x="0" y="0"/>
            <a:chExt cx="1347258" cy="9600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7258" cy="960034"/>
            </a:xfrm>
            <a:custGeom>
              <a:avLst/>
              <a:gdLst/>
              <a:ahLst/>
              <a:cxnLst/>
              <a:rect r="r" b="b" t="t" l="l"/>
              <a:pathLst>
                <a:path h="960034" w="1347258">
                  <a:moveTo>
                    <a:pt x="77187" y="0"/>
                  </a:moveTo>
                  <a:lnTo>
                    <a:pt x="1270072" y="0"/>
                  </a:lnTo>
                  <a:cubicBezTo>
                    <a:pt x="1290543" y="0"/>
                    <a:pt x="1310176" y="8132"/>
                    <a:pt x="1324651" y="22607"/>
                  </a:cubicBezTo>
                  <a:cubicBezTo>
                    <a:pt x="1339126" y="37083"/>
                    <a:pt x="1347258" y="56715"/>
                    <a:pt x="1347258" y="77187"/>
                  </a:cubicBezTo>
                  <a:lnTo>
                    <a:pt x="1347258" y="882847"/>
                  </a:lnTo>
                  <a:cubicBezTo>
                    <a:pt x="1347258" y="925476"/>
                    <a:pt x="1312701" y="960034"/>
                    <a:pt x="1270072" y="960034"/>
                  </a:cubicBezTo>
                  <a:lnTo>
                    <a:pt x="77187" y="960034"/>
                  </a:lnTo>
                  <a:cubicBezTo>
                    <a:pt x="56715" y="960034"/>
                    <a:pt x="37083" y="951902"/>
                    <a:pt x="22607" y="937426"/>
                  </a:cubicBezTo>
                  <a:cubicBezTo>
                    <a:pt x="8132" y="922951"/>
                    <a:pt x="0" y="903318"/>
                    <a:pt x="0" y="882847"/>
                  </a:cubicBezTo>
                  <a:lnTo>
                    <a:pt x="0" y="77187"/>
                  </a:lnTo>
                  <a:cubicBezTo>
                    <a:pt x="0" y="56715"/>
                    <a:pt x="8132" y="37083"/>
                    <a:pt x="22607" y="22607"/>
                  </a:cubicBezTo>
                  <a:cubicBezTo>
                    <a:pt x="37083" y="8132"/>
                    <a:pt x="56715" y="0"/>
                    <a:pt x="77187" y="0"/>
                  </a:cubicBezTo>
                  <a:close/>
                </a:path>
              </a:pathLst>
            </a:custGeom>
            <a:solidFill>
              <a:srgbClr val="88A4E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47625"/>
              <a:ext cx="1347258" cy="912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859429" y="2584587"/>
            <a:ext cx="2640853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Aprendizado Não Supervisionado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67278" y="3291574"/>
            <a:ext cx="4625155" cy="249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apenas os dados de entrada, sem respostas conhecidas. O algoritmo busca identificar padrões, agrupamentos ou relações existentes entre as observações.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Exemplos: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egmentação de clientes;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grupam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ento de documentos;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comendação de produtos.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64082" y="6555561"/>
            <a:ext cx="2640853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Aprendizado por Reforço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195854" y="7320737"/>
            <a:ext cx="4625155" cy="225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algoritmo aprende por tentativa e erro, recebendo recompensas quando toma boas decisões e penalizações quando comete erros.</a:t>
            </a:r>
          </a:p>
          <a:p>
            <a:pPr algn="ctr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Exemplos: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obótica;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ogos;</a:t>
            </a:r>
          </a:p>
          <a:p>
            <a:pPr algn="l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eí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culos autônomos.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91730" y="7466775"/>
            <a:ext cx="405581" cy="40558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80284" y="2146493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61437" y="4438678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3110" y="9172575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7342526" y="8612595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1069485">
            <a:off x="6600299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2848" y="4896269"/>
            <a:ext cx="10253332" cy="3604888"/>
          </a:xfrm>
          <a:custGeom>
            <a:avLst/>
            <a:gdLst/>
            <a:ahLst/>
            <a:cxnLst/>
            <a:rect r="r" b="b" t="t" l="l"/>
            <a:pathLst>
              <a:path h="3604888" w="10253332">
                <a:moveTo>
                  <a:pt x="0" y="0"/>
                </a:moveTo>
                <a:lnTo>
                  <a:pt x="10253332" y="0"/>
                </a:lnTo>
                <a:lnTo>
                  <a:pt x="10253332" y="3604888"/>
                </a:lnTo>
                <a:lnTo>
                  <a:pt x="0" y="3604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9609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83838" y="2089831"/>
            <a:ext cx="6508960" cy="6411326"/>
          </a:xfrm>
          <a:custGeom>
            <a:avLst/>
            <a:gdLst/>
            <a:ahLst/>
            <a:cxnLst/>
            <a:rect r="r" b="b" t="t" l="l"/>
            <a:pathLst>
              <a:path h="6411326" w="6508960">
                <a:moveTo>
                  <a:pt x="0" y="0"/>
                </a:moveTo>
                <a:lnTo>
                  <a:pt x="6508961" y="0"/>
                </a:lnTo>
                <a:lnTo>
                  <a:pt x="6508961" y="6411326"/>
                </a:lnTo>
                <a:lnTo>
                  <a:pt x="0" y="6411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2189452"/>
            <a:ext cx="7367051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CLASSIFICAÇÃO E REGRESSÃO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85127" y="5627782"/>
            <a:ext cx="1768573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Classificação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89261" y="5935757"/>
            <a:ext cx="3960305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objetivo é prever categorias ou classes.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Exemplos: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Spam ou Não Spam;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 inadimplente ou não;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Paciente com diabetes ou sem diabetes;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Aluno evadiu ou permaneceu na universidade.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3197" y="5644768"/>
            <a:ext cx="133591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Regressão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69282" y="6164357"/>
            <a:ext cx="3983740" cy="183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objetivo é prever valores numéricos contínuos.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Exemplos: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Preço de imóveis;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Temperatura;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Consumo de energia;</a:t>
            </a:r>
          </a:p>
          <a:p>
            <a:pPr algn="l" marL="388622" indent="-194311" lvl="1">
              <a:lnSpc>
                <a:spcPts val="180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Valor de vendas futuras.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0816" y="5367591"/>
            <a:ext cx="468444" cy="4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42519" y="5367591"/>
            <a:ext cx="588062" cy="4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3804538"/>
            <a:ext cx="6077252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Grande parte dos problemas de Machine Learning supervisionado pode ser dividida em duas categ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ias: </a:t>
            </a: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classificação e regressão.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4740" y="8948832"/>
            <a:ext cx="6077252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 escolha entre classificação e regressão depende diretamente da va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iável que desejamos prever.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44749" y="3450407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1438" y="8303945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2587452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7132914" y="8721403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4" y="0"/>
                </a:lnTo>
                <a:lnTo>
                  <a:pt x="6620994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263830" y="2598187"/>
            <a:ext cx="8177532" cy="5254064"/>
          </a:xfrm>
          <a:custGeom>
            <a:avLst/>
            <a:gdLst/>
            <a:ahLst/>
            <a:cxnLst/>
            <a:rect r="r" b="b" t="t" l="l"/>
            <a:pathLst>
              <a:path h="5254064" w="8177532">
                <a:moveTo>
                  <a:pt x="0" y="0"/>
                </a:moveTo>
                <a:lnTo>
                  <a:pt x="8177532" y="0"/>
                </a:lnTo>
                <a:lnTo>
                  <a:pt x="8177532" y="5254064"/>
                </a:lnTo>
                <a:lnTo>
                  <a:pt x="0" y="5254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069485">
            <a:off x="3392525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4198" y="2048079"/>
            <a:ext cx="7367051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DE UM PROJETO DE MACHINE LEARNING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4198" y="4277995"/>
            <a:ext cx="8038977" cy="470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desenvolvimento de um projeto de Machine Learning envolve diversas etapas, que devem ser executadas de forma organizada para garantir resultados confiáveis.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principais etapas são: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Definição do problema;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Coleta dos dados;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Análise Exploratória dos Dados (EDA);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Pré-processamento;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Treinamento dos modelos;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Avaliação dos resultados;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Escolha do melhor modelo;</a:t>
            </a:r>
          </a:p>
          <a:p>
            <a:pPr algn="just" marL="474979" indent="-237490" lvl="1">
              <a:lnSpc>
                <a:spcPts val="2199"/>
              </a:lnSpc>
              <a:buAutoNum type="arabicPeriod" startAt="1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Implantação e monitoramento.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Embora o treinamento do algoritmo seja uma etapa importante, grande parte do 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empo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de um projeto é dedicada à preparação e compreensão dos dados.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26353" y="8671335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59283" y="1931292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3065" y="3986634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4184722" y="8390489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2"/>
                </a:lnTo>
                <a:lnTo>
                  <a:pt x="0" y="600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1069485">
            <a:off x="3392525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97086" y="3594372"/>
            <a:ext cx="9148025" cy="4236031"/>
          </a:xfrm>
          <a:custGeom>
            <a:avLst/>
            <a:gdLst/>
            <a:ahLst/>
            <a:cxnLst/>
            <a:rect r="r" b="b" t="t" l="l"/>
            <a:pathLst>
              <a:path h="4236031" w="9148025">
                <a:moveTo>
                  <a:pt x="0" y="0"/>
                </a:moveTo>
                <a:lnTo>
                  <a:pt x="9148026" y="0"/>
                </a:lnTo>
                <a:lnTo>
                  <a:pt x="9148026" y="4236031"/>
                </a:lnTo>
                <a:lnTo>
                  <a:pt x="0" y="4236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9920" y="2384498"/>
            <a:ext cx="6947314" cy="70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UM DATASET?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74088" y="3522273"/>
            <a:ext cx="8038977" cy="442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Um dataset é um conjunto organizado de dados utilizado para treinar e avaliar modelos de Machine Learning.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Normalmente, um dataset é composto por: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Linhas (registros):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 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bservação ou exemplo do conjunto de dados.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Colu</a:t>
            </a: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nas (atributos ou features):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representam as características utilizadas pelo modelo para realizar previsões.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Variáve</a:t>
            </a: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alvo (target):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corresponde à informação que desejamos prever.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or exemplo, em um problema de previsão de evasão escolar, as features podem incluir idade, curso, frequência e notas do estudant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e,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enquanto o target indica se o aluno permaneceu ou evadiu da instituição.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933421" y="8024771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600" y="2578043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63991" y="816794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23952" y="8013757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51384" y="2201916"/>
            <a:ext cx="7464520" cy="5883167"/>
          </a:xfrm>
          <a:custGeom>
            <a:avLst/>
            <a:gdLst/>
            <a:ahLst/>
            <a:cxnLst/>
            <a:rect r="r" b="b" t="t" l="l"/>
            <a:pathLst>
              <a:path h="5883167" w="7464520">
                <a:moveTo>
                  <a:pt x="0" y="0"/>
                </a:moveTo>
                <a:lnTo>
                  <a:pt x="7464520" y="0"/>
                </a:lnTo>
                <a:lnTo>
                  <a:pt x="7464520" y="5883168"/>
                </a:lnTo>
                <a:lnTo>
                  <a:pt x="0" y="5883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23948" y="2136309"/>
            <a:ext cx="7612506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ANÁLISE EXPLORATÓRIA DOS DADOS (EDA)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33107" y="3781482"/>
            <a:ext cx="8038977" cy="423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Antes de construir qualquer modelo de Machine Learning, é necessário compreender o conjunto de dados disponível. Essa etapa é conhecida como Análise Exploratória dos Dados (Exploratory Data Analysis – EDA).</a:t>
            </a:r>
          </a:p>
          <a:p>
            <a:pPr algn="just">
              <a:lnSpc>
                <a:spcPts val="2000"/>
              </a:lnSpc>
            </a:pPr>
          </a:p>
          <a:p>
            <a:pPr algn="just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Durante a EDA buscamos responder perguntas importantes, como: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Quantos registros existem no conjunto de dados?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Quais variáveis estão disponíveis?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Existem valores ausentes?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Há dados inconsistentes ou duplicados?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Como as variáveis estão distribuídas?</a:t>
            </a:r>
          </a:p>
          <a:p>
            <a:pPr algn="just" marL="431801" indent="-215900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Existe relação entre elas?</a:t>
            </a:r>
          </a:p>
          <a:p>
            <a:pPr algn="just">
              <a:lnSpc>
                <a:spcPts val="2000"/>
              </a:lnSpc>
            </a:pPr>
          </a:p>
          <a:p>
            <a:pPr algn="just">
              <a:lnSpc>
                <a:spcPts val="2000"/>
              </a:lnSpc>
            </a:pPr>
            <a:r>
              <a:rPr lang="en-US" sz="2000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 análise exploratória auxilia na compreensão do problema e fornece informações importantes para as etapas seguintes do projeto.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909269" y="8007533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68116" y="1619398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52844" y="9258300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60020" y="3656929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21056" y="2085034"/>
            <a:ext cx="9175399" cy="6116933"/>
          </a:xfrm>
          <a:custGeom>
            <a:avLst/>
            <a:gdLst/>
            <a:ahLst/>
            <a:cxnLst/>
            <a:rect r="r" b="b" t="t" l="l"/>
            <a:pathLst>
              <a:path h="6116933" w="9175399">
                <a:moveTo>
                  <a:pt x="0" y="0"/>
                </a:moveTo>
                <a:lnTo>
                  <a:pt x="9175398" y="0"/>
                </a:lnTo>
                <a:lnTo>
                  <a:pt x="9175398" y="6116932"/>
                </a:lnTo>
                <a:lnTo>
                  <a:pt x="0" y="6116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50100" y="2320254"/>
            <a:ext cx="7330185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PRÉ-PROCESSAMENTO DOS DADOS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99053" y="3952204"/>
            <a:ext cx="7632278" cy="387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Na maioria dos projetos, os dados não estão prontos para serem utilizados pelos algoritmos de Machine Learning. Por isso, é necessário realizar um processo de preparação conhecido como pré-processamento.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 as principais etapas dessa fase estão: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ratamento de valores ausentes;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emoção de inconsistências;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ransformação de variáveis categóricas em numéricas;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ormalização ou padronização dos dados;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ivisão do conjunto em dados de treinamento e teste.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Um bom pré-processamento melhora significativamente a qualidade dos modelos desenvolvidos.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02851" y="8617769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08865" y="1466010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6123" y="7359446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4330129" y="830225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1069485">
            <a:off x="6600299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93406" y="2003333"/>
            <a:ext cx="8377204" cy="6280333"/>
          </a:xfrm>
          <a:custGeom>
            <a:avLst/>
            <a:gdLst/>
            <a:ahLst/>
            <a:cxnLst/>
            <a:rect r="r" b="b" t="t" l="l"/>
            <a:pathLst>
              <a:path h="6280333" w="8377204">
                <a:moveTo>
                  <a:pt x="0" y="0"/>
                </a:moveTo>
                <a:lnTo>
                  <a:pt x="8377204" y="0"/>
                </a:lnTo>
                <a:lnTo>
                  <a:pt x="8377204" y="6280334"/>
                </a:lnTo>
                <a:lnTo>
                  <a:pt x="0" y="6280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188352"/>
            <a:ext cx="8276143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TREINANDO UM MODELO DE MACHINE LEARNING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620277"/>
            <a:ext cx="8276143" cy="470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Após preparar os dados, inicia-se o treinamento do modelo.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Durante essa etapa, o algoritmo analisa os exemplos disponíveis e procura identificar padrões que relacionem as variáveis de entrada com a variável que desejamos prever.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xis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em dive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sos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lgoritmo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que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odem se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ut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 pa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esse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proc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 os mais conhecidos estão: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egressão Logística;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K-N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earest Neighbors (KNN);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Árv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ore de Decisão;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Random Forest;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Supp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ort Vector Machine (SVM).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Cada algoritmo apresenta características próprias e pode apresentar desempenhos diferentes dependendo do problema analisado.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7302" y="4489760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23952" y="8402955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1603552"/>
            <a:ext cx="419477" cy="4194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63994" y="9258300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87302" y="2021350"/>
            <a:ext cx="8258045" cy="6244300"/>
          </a:xfrm>
          <a:custGeom>
            <a:avLst/>
            <a:gdLst/>
            <a:ahLst/>
            <a:cxnLst/>
            <a:rect r="r" b="b" t="t" l="l"/>
            <a:pathLst>
              <a:path h="6244300" w="8258045">
                <a:moveTo>
                  <a:pt x="0" y="0"/>
                </a:moveTo>
                <a:lnTo>
                  <a:pt x="8258045" y="0"/>
                </a:lnTo>
                <a:lnTo>
                  <a:pt x="8258045" y="6244300"/>
                </a:lnTo>
                <a:lnTo>
                  <a:pt x="0" y="6244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9335247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5490" y="2165985"/>
            <a:ext cx="662034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COMO AVALIAR UM MODELO?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87368" y="3740785"/>
            <a:ext cx="7536584" cy="442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Treinar um modelo não significa que ele apresentará bom desempenho. Após o treinamento, é necessário avaliar sua capacidade de realizar previsões em dados que nunca foram vistos anteriormente.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métricas mais utilizadas para essa avaliação são: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Accuracy: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porcentagem de previsões corretas.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Precision: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proporção de previsões positivas que realmente estavam corretas.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Recall: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capacidade do modelo em identificar todos os casos positivos.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F1-score: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média harmônica entre Precision e Recall.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 escolha da métrica depende do problema. Em aplicações como saúde e detecção de fraudes, utilizar apenas a Accuracy pode levar a interpretações incorretas.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41210" y="3212980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1438" y="8303945"/>
            <a:ext cx="463521" cy="405581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2587452"/>
            <a:ext cx="419477" cy="419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69485">
            <a:off x="7132914" y="8438336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4" y="0"/>
                </a:lnTo>
                <a:lnTo>
                  <a:pt x="6620994" y="6008552"/>
                </a:lnTo>
                <a:lnTo>
                  <a:pt x="0" y="600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1069485">
            <a:off x="3392525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033959" y="2474186"/>
            <a:ext cx="5964948" cy="5338629"/>
          </a:xfrm>
          <a:custGeom>
            <a:avLst/>
            <a:gdLst/>
            <a:ahLst/>
            <a:cxnLst/>
            <a:rect r="r" b="b" t="t" l="l"/>
            <a:pathLst>
              <a:path h="5338629" w="5964948">
                <a:moveTo>
                  <a:pt x="0" y="0"/>
                </a:moveTo>
                <a:lnTo>
                  <a:pt x="5964948" y="0"/>
                </a:lnTo>
                <a:lnTo>
                  <a:pt x="5964948" y="5338628"/>
                </a:lnTo>
                <a:lnTo>
                  <a:pt x="0" y="533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281886"/>
            <a:ext cx="791251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DA TEORIA PARA A PRÁTICA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901109"/>
            <a:ext cx="8318090" cy="415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Até este momento, conhecemos os principais conceitos envolvidos em um projeto de Machine Learning. No entanto, compreender a teoria é apenas o primeiro passo.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seguir, construiremos um modelo utilizando Python e a biblioteca Scikit-learn, aplicando todas as etapas apresentadas anteriormente: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itura do conjunto de dados;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nálise exploratória;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ré-processamento;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reinamento do modelo;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valiação dos resultados.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objetivo é compreender como esses conceitos são utilizados na prática para resolver um problema real de classificação.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7302" y="4489760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1603552"/>
            <a:ext cx="419477" cy="4194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863994" y="9425764"/>
            <a:ext cx="2395306" cy="395195"/>
            <a:chOff x="0" y="0"/>
            <a:chExt cx="630862" cy="1040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70833" y="1813291"/>
            <a:ext cx="6895217" cy="7145303"/>
          </a:xfrm>
          <a:custGeom>
            <a:avLst/>
            <a:gdLst/>
            <a:ahLst/>
            <a:cxnLst/>
            <a:rect r="r" b="b" t="t" l="l"/>
            <a:pathLst>
              <a:path h="7145303" w="6895217">
                <a:moveTo>
                  <a:pt x="0" y="0"/>
                </a:moveTo>
                <a:lnTo>
                  <a:pt x="6895217" y="0"/>
                </a:lnTo>
                <a:lnTo>
                  <a:pt x="6895217" y="7145302"/>
                </a:lnTo>
                <a:lnTo>
                  <a:pt x="0" y="7145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043010" y="9502712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662" y="1126172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42426" y="2070654"/>
            <a:ext cx="662034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AGORA É A VEZ DE VOCÊS!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20784" y="3590250"/>
            <a:ext cx="8263625" cy="553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Durante este minicurso, conhecemos as principais etapas envolvidas na construção de um modelo de Machine Learning e acompanhamos um exemplo prático utilizando Python e Scikit-learn.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Como próxima etapa, propomos o desenvolvimento de um projeto utilizando um conjunto de dados disponível no Kaggle.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objetivo é aplicar os conhecimentos apresentados, seguindo o pipeline de um projeto de Machine Learning: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ompreender o problema;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xplorar o conjunto de dados;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ealizar o pré-processamento;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reinar diferentes modelos;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omparar os resultados obtidos;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scolher a solução mais adequada.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Mais do que obter a maior acurácia, o desafio consiste em interpretar os resultados e compreender o comportamento dos modelos desenvolvidos.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5603" y="1740912"/>
            <a:ext cx="463521" cy="405581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72847" y="4724023"/>
            <a:ext cx="419477" cy="4194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87325"/>
              <a:ext cx="5334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63994" y="8825753"/>
            <a:ext cx="2395306" cy="395195"/>
            <a:chOff x="0" y="0"/>
            <a:chExt cx="630862" cy="1040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1069485">
            <a:off x="7132914" y="8725418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4" y="0"/>
                </a:lnTo>
                <a:lnTo>
                  <a:pt x="6620994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28700" y="1070815"/>
            <a:ext cx="2395306" cy="395195"/>
            <a:chOff x="0" y="0"/>
            <a:chExt cx="630862" cy="1040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1069485">
            <a:off x="3392525" y="-4731210"/>
            <a:ext cx="6620993" cy="6008551"/>
          </a:xfrm>
          <a:custGeom>
            <a:avLst/>
            <a:gdLst/>
            <a:ahLst/>
            <a:cxnLst/>
            <a:rect r="r" b="b" t="t" l="l"/>
            <a:pathLst>
              <a:path h="6008551" w="6620993">
                <a:moveTo>
                  <a:pt x="0" y="0"/>
                </a:moveTo>
                <a:lnTo>
                  <a:pt x="6620993" y="0"/>
                </a:lnTo>
                <a:lnTo>
                  <a:pt x="6620993" y="6008551"/>
                </a:lnTo>
                <a:lnTo>
                  <a:pt x="0" y="600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225822" y="2076076"/>
            <a:ext cx="5030575" cy="6134847"/>
          </a:xfrm>
          <a:custGeom>
            <a:avLst/>
            <a:gdLst/>
            <a:ahLst/>
            <a:cxnLst/>
            <a:rect r="r" b="b" t="t" l="l"/>
            <a:pathLst>
              <a:path h="6134847" w="5030575">
                <a:moveTo>
                  <a:pt x="0" y="0"/>
                </a:moveTo>
                <a:lnTo>
                  <a:pt x="5030575" y="0"/>
                </a:lnTo>
                <a:lnTo>
                  <a:pt x="5030575" y="6134848"/>
                </a:lnTo>
                <a:lnTo>
                  <a:pt x="0" y="613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043010" y="8902700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662" y="1170623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991328"/>
            <a:ext cx="7701918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BOAS PRÁTICAS EM MACHINE LEARNING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651853"/>
            <a:ext cx="7282440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devemos lembrar durante um projeto?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214205"/>
            <a:ext cx="8263625" cy="470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desenvolvimento de um modelo de Machine Learning envolve muito mais do que escolher um algoritmo.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Algumas boas práticas incluem: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ompreender o problema antes de iniciar o desenvolvimento;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onhecer e explorar os dados disponíveis;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eali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ar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 pr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é-proc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sam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ento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ad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q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ili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zar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métricas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mp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ív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com o problema;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omparar diferentes modelos;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alidar os resultados utilizando dados que o modelo ainda não conhece;</a:t>
            </a:r>
          </a:p>
          <a:p>
            <a:pPr algn="just" marL="474979" indent="-237490" lvl="1">
              <a:lnSpc>
                <a:spcPts val="2199"/>
              </a:lnSpc>
              <a:buFont typeface="Arial"/>
              <a:buChar char="•"/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nterpretar criticamente os resultados obtidos.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Seguir essas práticas aumenta a confiabilidade dos modelos e reduz a probabilidade de erros durante sua utilização em aplicações reais.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9931">
            <a:off x="-4677509" y="7782697"/>
            <a:ext cx="11135203" cy="6903826"/>
          </a:xfrm>
          <a:custGeom>
            <a:avLst/>
            <a:gdLst/>
            <a:ahLst/>
            <a:cxnLst/>
            <a:rect r="r" b="b" t="t" l="l"/>
            <a:pathLst>
              <a:path h="6903826" w="11135203">
                <a:moveTo>
                  <a:pt x="0" y="0"/>
                </a:moveTo>
                <a:lnTo>
                  <a:pt x="11135203" y="0"/>
                </a:lnTo>
                <a:lnTo>
                  <a:pt x="11135203" y="6903826"/>
                </a:lnTo>
                <a:lnTo>
                  <a:pt x="0" y="690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48333">
            <a:off x="15283408" y="963281"/>
            <a:ext cx="5964979" cy="1700019"/>
          </a:xfrm>
          <a:custGeom>
            <a:avLst/>
            <a:gdLst/>
            <a:ahLst/>
            <a:cxnLst/>
            <a:rect r="r" b="b" t="t" l="l"/>
            <a:pathLst>
              <a:path h="1700019" w="5964979">
                <a:moveTo>
                  <a:pt x="0" y="0"/>
                </a:moveTo>
                <a:lnTo>
                  <a:pt x="5964979" y="0"/>
                </a:lnTo>
                <a:lnTo>
                  <a:pt x="5964979" y="1700019"/>
                </a:lnTo>
                <a:lnTo>
                  <a:pt x="0" y="170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88759" y="1033463"/>
            <a:ext cx="1327674" cy="381000"/>
            <a:chOff x="0" y="0"/>
            <a:chExt cx="349676" cy="100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8676" y="1036638"/>
            <a:ext cx="1327674" cy="381000"/>
            <a:chOff x="0" y="0"/>
            <a:chExt cx="349676" cy="100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31626" y="1031875"/>
            <a:ext cx="1327674" cy="381000"/>
            <a:chOff x="0" y="0"/>
            <a:chExt cx="349676" cy="100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676" cy="100346"/>
            </a:xfrm>
            <a:custGeom>
              <a:avLst/>
              <a:gdLst/>
              <a:ahLst/>
              <a:cxnLst/>
              <a:rect r="r" b="b" t="t" l="l"/>
              <a:pathLst>
                <a:path h="100346" w="349676">
                  <a:moveTo>
                    <a:pt x="50173" y="0"/>
                  </a:moveTo>
                  <a:lnTo>
                    <a:pt x="299503" y="0"/>
                  </a:lnTo>
                  <a:cubicBezTo>
                    <a:pt x="312809" y="0"/>
                    <a:pt x="325571" y="5286"/>
                    <a:pt x="334980" y="14695"/>
                  </a:cubicBezTo>
                  <a:cubicBezTo>
                    <a:pt x="344389" y="24105"/>
                    <a:pt x="349676" y="36866"/>
                    <a:pt x="349676" y="50173"/>
                  </a:cubicBezTo>
                  <a:lnTo>
                    <a:pt x="349676" y="50173"/>
                  </a:lnTo>
                  <a:cubicBezTo>
                    <a:pt x="349676" y="63480"/>
                    <a:pt x="344389" y="76241"/>
                    <a:pt x="334980" y="85650"/>
                  </a:cubicBezTo>
                  <a:cubicBezTo>
                    <a:pt x="325571" y="95060"/>
                    <a:pt x="312809" y="100346"/>
                    <a:pt x="29950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49676" cy="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600" y="2578043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63991" y="816794"/>
            <a:ext cx="463521" cy="405581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37C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984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869321" y="8863105"/>
            <a:ext cx="2395306" cy="395195"/>
            <a:chOff x="0" y="0"/>
            <a:chExt cx="630862" cy="1040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1036638"/>
            <a:ext cx="2395306" cy="395195"/>
            <a:chOff x="0" y="0"/>
            <a:chExt cx="630862" cy="10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862" cy="104084"/>
            </a:xfrm>
            <a:custGeom>
              <a:avLst/>
              <a:gdLst/>
              <a:ahLst/>
              <a:cxnLst/>
              <a:rect r="r" b="b" t="t" l="l"/>
              <a:pathLst>
                <a:path h="104084" w="630862">
                  <a:moveTo>
                    <a:pt x="52042" y="0"/>
                  </a:moveTo>
                  <a:lnTo>
                    <a:pt x="578820" y="0"/>
                  </a:lnTo>
                  <a:cubicBezTo>
                    <a:pt x="592623" y="0"/>
                    <a:pt x="605860" y="5483"/>
                    <a:pt x="615620" y="15243"/>
                  </a:cubicBezTo>
                  <a:cubicBezTo>
                    <a:pt x="625379" y="25003"/>
                    <a:pt x="630862" y="38240"/>
                    <a:pt x="630862" y="52042"/>
                  </a:cubicBezTo>
                  <a:lnTo>
                    <a:pt x="630862" y="52042"/>
                  </a:lnTo>
                  <a:cubicBezTo>
                    <a:pt x="630862" y="80784"/>
                    <a:pt x="607562" y="104084"/>
                    <a:pt x="578820" y="104084"/>
                  </a:cubicBezTo>
                  <a:lnTo>
                    <a:pt x="52042" y="104084"/>
                  </a:lnTo>
                  <a:cubicBezTo>
                    <a:pt x="38240" y="104084"/>
                    <a:pt x="25003" y="98601"/>
                    <a:pt x="15243" y="88841"/>
                  </a:cubicBezTo>
                  <a:cubicBezTo>
                    <a:pt x="5483" y="79082"/>
                    <a:pt x="0" y="65845"/>
                    <a:pt x="0" y="52042"/>
                  </a:cubicBezTo>
                  <a:lnTo>
                    <a:pt x="0" y="52042"/>
                  </a:lnTo>
                  <a:cubicBezTo>
                    <a:pt x="0" y="38240"/>
                    <a:pt x="5483" y="25003"/>
                    <a:pt x="15243" y="15243"/>
                  </a:cubicBezTo>
                  <a:cubicBezTo>
                    <a:pt x="25003" y="5483"/>
                    <a:pt x="38240" y="0"/>
                    <a:pt x="52042" y="0"/>
                  </a:cubicBezTo>
                  <a:close/>
                </a:path>
              </a:pathLst>
            </a:custGeom>
            <a:solidFill>
              <a:srgbClr val="03268E"/>
            </a:solidFill>
            <a:ln w="28575" cap="rnd">
              <a:solidFill>
                <a:srgbClr val="03268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630862" cy="56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40026" y="2428418"/>
            <a:ext cx="6464482" cy="5430165"/>
          </a:xfrm>
          <a:custGeom>
            <a:avLst/>
            <a:gdLst/>
            <a:ahLst/>
            <a:cxnLst/>
            <a:rect r="r" b="b" t="t" l="l"/>
            <a:pathLst>
              <a:path h="5430165" w="6464482">
                <a:moveTo>
                  <a:pt x="0" y="0"/>
                </a:moveTo>
                <a:lnTo>
                  <a:pt x="6464481" y="0"/>
                </a:lnTo>
                <a:lnTo>
                  <a:pt x="6464481" y="5430164"/>
                </a:lnTo>
                <a:lnTo>
                  <a:pt x="0" y="5430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048336" y="8940053"/>
            <a:ext cx="203727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Minicurso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662" y="1136445"/>
            <a:ext cx="1619381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PANDA UFSCar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64082" y="1106488"/>
            <a:ext cx="77702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14624" y="1101725"/>
            <a:ext cx="91578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66974" y="1101725"/>
            <a:ext cx="1056979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b="true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69304" y="2019790"/>
            <a:ext cx="5989556" cy="70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>
                <a:solidFill>
                  <a:srgbClr val="03268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10352" y="3058305"/>
            <a:ext cx="8907460" cy="525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O Machine Learning tornou-se uma das principais ferramentas para extração de conhecimento a partir de dados e vem sendo aplicado em áreas como saúde, educação, finanças, indústria, agricultura e tecnologia.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Ao longo deste minicurso, foram apresentados os conceitos fundamentais da área, as etapas envolvidas na construção de modelos e uma aplicação prática utilizando Python e Scikit-learn.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Mais do que aprender algoritmos, compreender o processo completo de desenvolvimento de um projeto de Machine Learning é essencial para construir soluções confiáveis e capazes de gerar impacto em problemas reais.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sz="2199">
                <a:solidFill>
                  <a:srgbClr val="03268E"/>
                </a:solidFill>
                <a:latin typeface="Open Sans"/>
                <a:ea typeface="Open Sans"/>
                <a:cs typeface="Open Sans"/>
                <a:sym typeface="Open Sans"/>
              </a:rPr>
              <a:t>Esperamos que este minicurso desperte o interesse de vocês para continuar estudando Ciência de Dados, Inteligência Artificial e Machine Learning.</a:t>
            </a:r>
          </a:p>
          <a:p>
            <a:pPr algn="just">
              <a:lnSpc>
                <a:spcPts val="2199"/>
              </a:lnSpc>
            </a:pPr>
          </a:p>
          <a:p>
            <a:pPr algn="just">
              <a:lnSpc>
                <a:spcPts val="2199"/>
              </a:lnSpc>
            </a:pPr>
            <a:r>
              <a:rPr lang="en-US" b="true" sz="2199">
                <a:solidFill>
                  <a:srgbClr val="03268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Muito obrigada pela participação!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DAHRE-_f_G8</dc:identifier>
  <dcterms:modified xsi:type="dcterms:W3CDTF">2011-08-01T06:04:30Z</dcterms:modified>
  <cp:revision>1</cp:revision>
  <dc:title>Minicurso - Introdução ao Machine Learning</dc:title>
</cp:coreProperties>
</file>